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/>
            </a:pPr>
            <a:r>
              <a:t>NVR GStreamer 사용자 메뉴얼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/>
            </a:pPr>
            <a:r>
              <a:t>Network Video Recorder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시스템 개요</a:t>
            </a:r>
          </a:p>
          <a:p>
            <a:pPr>
              <a:spcBef>
                <a:spcPts val="600"/>
              </a:spcBef>
              <a:defRPr sz="1800"/>
            </a:pPr>
            <a:r>
              <a:t>주요 기능</a:t>
            </a:r>
          </a:p>
          <a:p>
            <a:pPr>
              <a:spcBef>
                <a:spcPts val="600"/>
              </a:spcBef>
              <a:defRPr sz="1800"/>
            </a:pPr>
            <a:r>
              <a:t>시스템 요구사항</a:t>
            </a:r>
          </a:p>
          <a:p>
            <a:pPr>
              <a:spcBef>
                <a:spcPts val="600"/>
              </a:spcBef>
              <a:defRPr sz="1800"/>
            </a:pPr>
            <a:r>
              <a:t>설치 가이드</a:t>
            </a:r>
          </a:p>
          <a:p>
            <a:pPr>
              <a:spcBef>
                <a:spcPts val="600"/>
              </a:spcBef>
              <a:defRPr sz="1800"/>
            </a:pPr>
            <a:r>
              <a:t>프로그램 실행</a:t>
            </a:r>
          </a:p>
          <a:p>
            <a:pPr>
              <a:spcBef>
                <a:spcPts val="600"/>
              </a:spcBef>
              <a:defRPr sz="1800"/>
            </a:pPr>
            <a:r>
              <a:t>화면 구성</a:t>
            </a:r>
          </a:p>
          <a:p>
            <a:pPr>
              <a:spcBef>
                <a:spcPts val="600"/>
              </a:spcBef>
              <a:defRPr sz="1800"/>
            </a:pPr>
            <a:r>
              <a:t>카메라 관리</a:t>
            </a:r>
          </a:p>
          <a:p>
            <a:pPr>
              <a:spcBef>
                <a:spcPts val="600"/>
              </a:spcBef>
              <a:defRPr sz="1800"/>
            </a:pPr>
            <a:r>
              <a:t>녹화 기능</a:t>
            </a:r>
          </a:p>
          <a:p>
            <a:pPr>
              <a:spcBef>
                <a:spcPts val="600"/>
              </a:spcBef>
              <a:defRPr sz="1800"/>
            </a:pPr>
            <a:r>
              <a:t>재생 기능</a:t>
            </a:r>
          </a:p>
          <a:p>
            <a:pPr>
              <a:spcBef>
                <a:spcPts val="600"/>
              </a:spcBef>
              <a:defRPr sz="1800"/>
            </a:pPr>
            <a:r>
              <a:t>PTZ 카메라 제어</a:t>
            </a:r>
          </a:p>
          <a:p>
            <a:pPr>
              <a:spcBef>
                <a:spcPts val="600"/>
              </a:spcBef>
              <a:defRPr sz="1800"/>
            </a:pPr>
            <a:r>
              <a:t>시스템 설정</a:t>
            </a:r>
          </a:p>
          <a:p>
            <a:pPr>
              <a:spcBef>
                <a:spcPts val="600"/>
              </a:spcBef>
              <a:defRPr sz="1800"/>
            </a:pPr>
            <a:r>
              <a:t>백업 및 저장공간 관리</a:t>
            </a:r>
          </a:p>
          <a:p>
            <a:pPr>
              <a:spcBef>
                <a:spcPts val="600"/>
              </a:spcBef>
              <a:defRPr sz="1800"/>
            </a:pPr>
            <a:r>
              <a:t>단축키</a:t>
            </a:r>
          </a:p>
          <a:p>
            <a:pPr>
              <a:spcBef>
                <a:spcPts val="600"/>
              </a:spcBef>
              <a:defRPr sz="1800"/>
            </a:pPr>
            <a:r>
              <a:t>문제 해결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시스템 개요 - 주요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NVR GStreamer는 Python 기반의 네트워크 비디오 녹화 시스템(NVR)으로, RTSP 카메라의 실시간 영상을 모니터링하고 녹화할 수 있는 소프트웨어입니다.</a:t>
            </a:r>
          </a:p>
          <a:p>
            <a:pPr>
              <a:spcBef>
                <a:spcPts val="600"/>
              </a:spcBef>
              <a:defRPr sz="1800" b="1"/>
            </a:pPr>
            <a:r>
              <a:t>실시간 스트리밍: RTSP 프로토콜을 통한 IP 카메라 실시간 모니터링</a:t>
            </a:r>
          </a:p>
          <a:p>
            <a:pPr>
              <a:spcBef>
                <a:spcPts val="600"/>
              </a:spcBef>
              <a:defRPr sz="1800" b="1"/>
            </a:pPr>
            <a:r>
              <a:t>연속 녹화: 자동 파일 분할 기능을 통한 24시간 연속 녹화</a:t>
            </a:r>
          </a:p>
          <a:p>
            <a:pPr>
              <a:spcBef>
                <a:spcPts val="600"/>
              </a:spcBef>
              <a:defRPr sz="1800" b="1"/>
            </a:pPr>
            <a:r>
              <a:t>재생 기능: 녹화된 영상의 검색 및 재생</a:t>
            </a:r>
          </a:p>
          <a:p>
            <a:pPr>
              <a:spcBef>
                <a:spcPts val="600"/>
              </a:spcBef>
              <a:defRPr sz="1800" b="1"/>
            </a:pPr>
            <a:r>
              <a:t>PTZ 제어: 팬/틸트/줌 기능을 가진 카메라 원격 제어</a:t>
            </a:r>
          </a:p>
          <a:p>
            <a:pPr>
              <a:spcBef>
                <a:spcPts val="600"/>
              </a:spcBef>
              <a:defRPr sz="1800" b="1"/>
            </a:pPr>
            <a:r>
              <a:t>자동 재연결: 네트워크 끊김 시 자동 재연결</a:t>
            </a:r>
          </a:p>
          <a:p>
            <a:pPr>
              <a:spcBef>
                <a:spcPts val="600"/>
              </a:spcBef>
              <a:defRPr sz="1800" b="1"/>
            </a:pPr>
            <a:r>
              <a:t>저사양 최적화: 라즈베리파이 등 임베디드 장치에서도 안정적 동작 (CPU 사용량 약 50% 절감)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주요 기능 - 1. 다중 카메라 지원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여러 대의 IP 카메라 동시 모니터링</a:t>
            </a:r>
          </a:p>
          <a:p>
            <a:pPr>
              <a:spcBef>
                <a:spcPts val="600"/>
              </a:spcBef>
              <a:defRPr sz="1800"/>
            </a:pPr>
            <a:r>
              <a:t>카메라별 독립적인 녹화 설정</a:t>
            </a:r>
          </a:p>
          <a:p>
            <a:pPr>
              <a:spcBef>
                <a:spcPts val="600"/>
              </a:spcBef>
              <a:defRPr sz="1800"/>
            </a:pPr>
            <a:r>
              <a:t>그리드 레이아웃을 통한 화면 분할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주요 기능 - 2. 스마트 녹화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자동 녹화: 카메라 연결 시 자동으로 녹화 시작</a:t>
            </a:r>
          </a:p>
          <a:p>
            <a:pPr>
              <a:spcBef>
                <a:spcPts val="600"/>
              </a:spcBef>
              <a:defRPr sz="1800" b="1"/>
            </a:pPr>
            <a:r>
              <a:t>수동 녹화: 사용자가 원하는 시점에 녹화 시작/중지</a:t>
            </a:r>
          </a:p>
          <a:p>
            <a:pPr>
              <a:spcBef>
                <a:spcPts val="600"/>
              </a:spcBef>
              <a:defRPr sz="1800" b="1"/>
            </a:pPr>
            <a:r>
              <a:t>파일 자동 분할: 설정된 시간 단위로 파일 자동 분할 (기본 10분)</a:t>
            </a:r>
          </a:p>
          <a:p>
            <a:pPr>
              <a:spcBef>
                <a:spcPts val="600"/>
              </a:spcBef>
              <a:defRPr sz="1800" b="1"/>
            </a:pPr>
            <a:r>
              <a:t>저장공간 자동 관리: 디스크 용량 부족 시 오래된 파일 자동 삭제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주요 기능 - 3. 재생 시스템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날짜/시간별 녹화 파일 검색</a:t>
            </a:r>
          </a:p>
          <a:p>
            <a:pPr>
              <a:spcBef>
                <a:spcPts val="600"/>
              </a:spcBef>
              <a:defRPr sz="1800"/>
            </a:pPr>
            <a:r>
              <a:t>재생 속도 조절 (0.5x ~ 2x)</a:t>
            </a:r>
          </a:p>
          <a:p>
            <a:pPr>
              <a:spcBef>
                <a:spcPts val="600"/>
              </a:spcBef>
              <a:defRPr sz="1800"/>
            </a:pPr>
            <a:r>
              <a:t>타임라인 네비게이션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주요 기능 - 4. PTZ 카메라 제어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팬(Pan) / 틸트(Tilt) 방향 제어</a:t>
            </a:r>
          </a:p>
          <a:p>
            <a:pPr>
              <a:spcBef>
                <a:spcPts val="600"/>
              </a:spcBef>
              <a:defRPr sz="1800"/>
            </a:pPr>
            <a:r>
              <a:t>줌 인/아웃</a:t>
            </a:r>
          </a:p>
          <a:p>
            <a:pPr>
              <a:spcBef>
                <a:spcPts val="600"/>
              </a:spcBef>
              <a:defRPr sz="1800"/>
            </a:pPr>
            <a:r>
              <a:t>키보드 단축키를 통한 빠른 조작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주요 기능 - 5. 시스템 모니터링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CPU, 메모리, 온도 실시간 모니터링</a:t>
            </a:r>
          </a:p>
          <a:p>
            <a:pPr>
              <a:spcBef>
                <a:spcPts val="600"/>
              </a:spcBef>
              <a:defRPr sz="1800"/>
            </a:pPr>
            <a:r>
              <a:t>저장공간 사용량 확인</a:t>
            </a:r>
          </a:p>
          <a:p>
            <a:pPr>
              <a:spcBef>
                <a:spcPts val="600"/>
              </a:spcBef>
              <a:defRPr sz="1800"/>
            </a:pPr>
            <a:r>
              <a:t>카메라 연결 상태 실시간 표시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시스템 요구사항 - 하드웨어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최소 사양</a:t>
            </a:r>
          </a:p>
          <a:p>
            <a:pPr lvl="1">
              <a:spcBef>
                <a:spcPts val="600"/>
              </a:spcBef>
              <a:defRPr sz="1600"/>
            </a:pPr>
            <a:r>
              <a:t>CPU: 1GHz 듀얼 코어 이상</a:t>
            </a:r>
          </a:p>
          <a:p>
            <a:pPr lvl="1">
              <a:spcBef>
                <a:spcPts val="600"/>
              </a:spcBef>
              <a:defRPr sz="1600"/>
            </a:pPr>
            <a:r>
              <a:t>RAM: 1GB 이상</a:t>
            </a:r>
          </a:p>
          <a:p>
            <a:pPr lvl="1">
              <a:spcBef>
                <a:spcPts val="600"/>
              </a:spcBef>
              <a:defRPr sz="1600"/>
            </a:pPr>
            <a:r>
              <a:t>저장공간: 32GB 이상 (녹화 용량에 따라 추가 필요)</a:t>
            </a:r>
          </a:p>
          <a:p>
            <a:pPr lvl="1">
              <a:spcBef>
                <a:spcPts val="600"/>
              </a:spcBef>
              <a:defRPr sz="1600"/>
            </a:pPr>
            <a:r>
              <a:t>네트워크: 100Mbps 이더넷</a:t>
            </a:r>
          </a:p>
          <a:p>
            <a:pPr>
              <a:spcBef>
                <a:spcPts val="600"/>
              </a:spcBef>
              <a:defRPr sz="1800" b="1"/>
            </a:pPr>
            <a:r>
              <a:t>권장 사양</a:t>
            </a:r>
          </a:p>
          <a:p>
            <a:pPr lvl="1">
              <a:spcBef>
                <a:spcPts val="600"/>
              </a:spcBef>
              <a:defRPr sz="1600"/>
            </a:pPr>
            <a:r>
              <a:t>CPU: 1.5GHz 쿼드 코어 이상</a:t>
            </a:r>
          </a:p>
          <a:p>
            <a:pPr lvl="1">
              <a:spcBef>
                <a:spcPts val="600"/>
              </a:spcBef>
              <a:defRPr sz="1600"/>
            </a:pPr>
            <a:r>
              <a:t>RAM: 2GB 이상</a:t>
            </a:r>
          </a:p>
          <a:p>
            <a:pPr lvl="1">
              <a:spcBef>
                <a:spcPts val="600"/>
              </a:spcBef>
              <a:defRPr sz="1600"/>
            </a:pPr>
            <a:r>
              <a:t>저장공간: 500GB 이상 (SSD 권장)</a:t>
            </a:r>
          </a:p>
          <a:p>
            <a:pPr lvl="1">
              <a:spcBef>
                <a:spcPts val="600"/>
              </a:spcBef>
              <a:defRPr sz="1600"/>
            </a:pPr>
            <a:r>
              <a:t>네트워크: 기가비트 이더넷</a:t>
            </a:r>
          </a:p>
          <a:p>
            <a:pPr>
              <a:spcBef>
                <a:spcPts val="600"/>
              </a:spcBef>
              <a:defRPr sz="1800" b="1"/>
            </a:pPr>
            <a:r>
              <a:t>지원 플랫폼</a:t>
            </a:r>
          </a:p>
          <a:p>
            <a:pPr lvl="1">
              <a:spcBef>
                <a:spcPts val="600"/>
              </a:spcBef>
              <a:defRPr sz="1600"/>
            </a:pPr>
            <a:r>
              <a:t>Raspberry Pi (3, 4, Zero 2W) - **주 개발 대상**</a:t>
            </a:r>
          </a:p>
          <a:p>
            <a:pPr lvl="1">
              <a:spcBef>
                <a:spcPts val="600"/>
              </a:spcBef>
              <a:defRPr sz="1600"/>
            </a:pPr>
            <a:r>
              <a:t>Ubuntu 20.04 이상</a:t>
            </a:r>
          </a:p>
          <a:p>
            <a:pPr lvl="1">
              <a:spcBef>
                <a:spcPts val="600"/>
              </a:spcBef>
              <a:defRPr sz="1600"/>
            </a:pPr>
            <a:r>
              <a:t>Debian 11 이상</a:t>
            </a:r>
          </a:p>
          <a:p>
            <a:pPr lvl="1">
              <a:spcBef>
                <a:spcPts val="600"/>
              </a:spcBef>
              <a:defRPr sz="1600"/>
            </a:pPr>
            <a:r>
              <a:t>Windows 10/11 (실험적 지원)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시스템 요구사항 - 소프트웨어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Python 3.8 이상</a:t>
            </a:r>
          </a:p>
          <a:p>
            <a:pPr>
              <a:spcBef>
                <a:spcPts val="600"/>
              </a:spcBef>
              <a:defRPr sz="1800"/>
            </a:pPr>
            <a:r>
              <a:t>GStreamer 1.18 이상</a:t>
            </a:r>
          </a:p>
          <a:p>
            <a:pPr>
              <a:spcBef>
                <a:spcPts val="600"/>
              </a:spcBef>
              <a:defRPr sz="1800"/>
            </a:pPr>
            <a:r>
              <a:t>PyQt5</a:t>
            </a:r>
          </a:p>
          <a:p>
            <a:pPr>
              <a:spcBef>
                <a:spcPts val="600"/>
              </a:spcBef>
              <a:defRPr sz="1800"/>
            </a:pPr>
            <a:r>
              <a:t>네트워크 연결 (RTSP 카메라 접근용)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설치 가이드 - Linux / Raspberry 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1. 시스템 패키지 설치</a:t>
            </a:r>
          </a:p>
          <a:p>
            <a:pPr lvl="1">
              <a:spcBef>
                <a:spcPts val="600"/>
              </a:spcBef>
              <a:defRPr sz="1600"/>
            </a:pPr>
            <a:r>
              <a:t>sudo apt-get update</a:t>
            </a:r>
          </a:p>
          <a:p>
            <a:pPr lvl="1">
              <a:spcBef>
                <a:spcPts val="600"/>
              </a:spcBef>
              <a:defRPr sz="1600"/>
            </a:pPr>
            <a:r>
              <a:t>sudo apt-get upgrade</a:t>
            </a:r>
          </a:p>
          <a:p>
            <a:pPr lvl="1">
              <a:spcBef>
                <a:spcPts val="600"/>
              </a:spcBef>
              <a:defRPr sz="1600"/>
            </a:pPr>
            <a:r>
              <a:t>sudo apt-get install -y \</a:t>
            </a:r>
          </a:p>
          <a:p>
            <a:pPr lvl="1">
              <a:spcBef>
                <a:spcPts val="600"/>
              </a:spcBef>
              <a:defRPr sz="1600"/>
            </a:pPr>
            <a:r>
              <a:t>gstreamer1.0-tools \</a:t>
            </a:r>
          </a:p>
          <a:p>
            <a:pPr lvl="1">
              <a:spcBef>
                <a:spcPts val="600"/>
              </a:spcBef>
              <a:defRPr sz="1600"/>
            </a:pPr>
            <a:r>
              <a:t>gstreamer1.0-plugins-base \</a:t>
            </a:r>
          </a:p>
          <a:p>
            <a:pPr lvl="1">
              <a:spcBef>
                <a:spcPts val="600"/>
              </a:spcBef>
              <a:defRPr sz="1600"/>
            </a:pPr>
            <a:r>
              <a:t>gstreamer1.0-plugins-good \</a:t>
            </a:r>
          </a:p>
          <a:p>
            <a:pPr lvl="1">
              <a:spcBef>
                <a:spcPts val="600"/>
              </a:spcBef>
              <a:defRPr sz="1600"/>
            </a:pPr>
            <a:r>
              <a:t>gstreamer1.0-plugins-bad \</a:t>
            </a:r>
          </a:p>
          <a:p>
            <a:pPr lvl="1">
              <a:spcBef>
                <a:spcPts val="600"/>
              </a:spcBef>
              <a:defRPr sz="1600"/>
            </a:pPr>
            <a:r>
              <a:t>gstreamer1.0-plugins-ugly \</a:t>
            </a:r>
          </a:p>
          <a:p>
            <a:pPr>
              <a:spcBef>
                <a:spcPts val="600"/>
              </a:spcBef>
              <a:defRPr sz="1800"/>
            </a:pPr>
            <a:r>
              <a:t>python3-gi python3-gi-cairo \</a:t>
            </a:r>
          </a:p>
          <a:p>
            <a:pPr>
              <a:spcBef>
                <a:spcPts val="600"/>
              </a:spcBef>
              <a:defRPr sz="1800"/>
            </a:pPr>
            <a:r>
              <a:t>gir1.2-gstreamer-1.0 \</a:t>
            </a:r>
          </a:p>
          <a:p>
            <a:pPr>
              <a:spcBef>
                <a:spcPts val="600"/>
              </a:spcBef>
              <a:defRPr sz="1800"/>
            </a:pPr>
            <a:r>
              <a:t>gir1.2-gst-plugins-base-1.0</a:t>
            </a:r>
          </a:p>
          <a:p>
            <a:pPr>
              <a:spcBef>
                <a:spcPts val="600"/>
              </a:spcBef>
              <a:defRPr sz="1800"/>
            </a:pPr>
            <a:r>
              <a:t># 라즈베리파이 3 및 이전 모델</a:t>
            </a:r>
          </a:p>
          <a:p>
            <a:pPr>
              <a:spcBef>
                <a:spcPts val="600"/>
              </a:spcBef>
              <a:defRPr sz="1800"/>
            </a:pPr>
            <a:r>
              <a:t>sudo apt-get install -y gstreamer1.0-omx-generic</a:t>
            </a:r>
          </a:p>
          <a:p>
            <a:pPr>
              <a:spcBef>
                <a:spcPts val="600"/>
              </a:spcBef>
              <a:defRPr sz="1800"/>
            </a:pPr>
            <a:r>
              <a:t># 라즈베리파이 4 및 최신 모델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설치 가이드 - RTSP URL 확인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카메라 제조사 매뉴얼 참조</a:t>
            </a:r>
          </a:p>
          <a:p>
            <a:pPr>
              <a:spcBef>
                <a:spcPts val="600"/>
              </a:spcBef>
              <a:defRPr sz="1800"/>
            </a:pPr>
            <a:r>
              <a:t>주요 제조사별 기본 URL 형식:</a:t>
            </a:r>
          </a:p>
          <a:p>
            <a:pPr lvl="1">
              <a:spcBef>
                <a:spcPts val="600"/>
              </a:spcBef>
              <a:defRPr sz="1600" b="1"/>
            </a:pPr>
            <a:r>
              <a:t>Hikvision: `rtsp://admin:password@IP:554/Streaming/Channels/101`</a:t>
            </a:r>
          </a:p>
          <a:p>
            <a:pPr lvl="1">
              <a:spcBef>
                <a:spcPts val="600"/>
              </a:spcBef>
              <a:defRPr sz="1600" b="1"/>
            </a:pPr>
            <a:r>
              <a:t>Dahua: `rtsp://admin:password@IP:554/cam/realmonitor?channel=1&amp;subtype=0`</a:t>
            </a:r>
          </a:p>
          <a:p>
            <a:pPr lvl="1">
              <a:spcBef>
                <a:spcPts val="600"/>
              </a:spcBef>
              <a:defRPr sz="1600" b="1"/>
            </a:pPr>
            <a:r>
              <a:t>일반 ONVIF: `rtsp://IP:554/stream1`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설치 가이드 - 카메라 수정/삭제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카메라 목록에서 카메라 우클릭</a:t>
            </a:r>
          </a:p>
          <a:p>
            <a:pPr>
              <a:spcBef>
                <a:spcPts val="600"/>
              </a:spcBef>
              <a:defRPr sz="1800"/>
            </a:pPr>
            <a:r>
              <a:t>**수정** 또는 **삭제** 선택</a:t>
            </a:r>
          </a:p>
          <a:p>
            <a:pPr>
              <a:spcBef>
                <a:spcPts val="600"/>
              </a:spcBef>
              <a:defRPr sz="1800"/>
            </a:pPr>
            <a:r>
              <a:t>수정 시: 정보 변경 후 **확인**</a:t>
            </a:r>
          </a:p>
          <a:p>
            <a:pPr>
              <a:spcBef>
                <a:spcPts val="600"/>
              </a:spcBef>
              <a:defRPr sz="1800"/>
            </a:pPr>
            <a:r>
              <a:t>삭제 시: 확인 대화상자에서 **예** 클릭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설치 가이드 - 카메라 연결 상태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카메라 목록에서 각 카메라의 연결 상태를 실시간으로 확인할 수 있습니다:</a:t>
            </a:r>
          </a:p>
          <a:p>
            <a:pPr>
              <a:spcBef>
                <a:spcPts val="600"/>
              </a:spcBef>
              <a:defRPr sz="1800"/>
            </a:pPr>
            <a:r>
              <a:t>🟢 **녹색**: 정상 연결 및 스트리밍 중</a:t>
            </a:r>
          </a:p>
          <a:p>
            <a:pPr>
              <a:spcBef>
                <a:spcPts val="600"/>
              </a:spcBef>
              <a:defRPr sz="1800"/>
            </a:pPr>
            <a:r>
              <a:t>🟡 **노란색**: 연결 시도 중</a:t>
            </a:r>
          </a:p>
          <a:p>
            <a:pPr>
              <a:spcBef>
                <a:spcPts val="600"/>
              </a:spcBef>
              <a:defRPr sz="1800"/>
            </a:pPr>
            <a:r>
              <a:t>🔴 **빨간색**: 연결 실패 또는 오류</a:t>
            </a:r>
          </a:p>
          <a:p>
            <a:pPr>
              <a:spcBef>
                <a:spcPts val="600"/>
              </a:spcBef>
              <a:defRPr sz="1800"/>
            </a:pPr>
            <a:r>
              <a:t>🔵 **파란색**: 재연결 시도 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설치 가이드 - 자동 재연결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네트워크 문제로 카메라 연결이 끊어진 경우, 자동으로 재연결 시도</a:t>
            </a:r>
          </a:p>
          <a:p>
            <a:pPr>
              <a:spcBef>
                <a:spcPts val="600"/>
              </a:spcBef>
              <a:defRPr sz="1800"/>
            </a:pPr>
            <a:r>
              <a:t>재연결 시 새로운 녹화 파일이 생성됨</a:t>
            </a:r>
          </a:p>
          <a:p>
            <a:pPr>
              <a:spcBef>
                <a:spcPts val="600"/>
              </a:spcBef>
              <a:defRPr sz="1800"/>
            </a:pPr>
            <a:r>
              <a:t>최대 재연결 시도 횟수 및 간격은 설정에서 조정 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녹화 기능 - 자동 녹화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**카메라 설정**에서 **"시작 시 자동 녹화"** 옵션 활성화</a:t>
            </a:r>
          </a:p>
          <a:p>
            <a:pPr>
              <a:spcBef>
                <a:spcPts val="600"/>
              </a:spcBef>
              <a:defRPr sz="1800"/>
            </a:pPr>
            <a:r>
              <a:t>프로그램 실행 시 자동으로 녹화 시작</a:t>
            </a:r>
          </a:p>
          <a:p>
            <a:pPr>
              <a:spcBef>
                <a:spcPts val="600"/>
              </a:spcBef>
              <a:defRPr sz="1800"/>
            </a:pPr>
            <a:r>
              <a:t>카메라 연결이 끊어졌다가 다시 연결되면 자동으로 녹화 재개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녹화 기능 - 수동 녹화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**녹화 제어 패널**에서 녹화할 카메라 선택</a:t>
            </a:r>
          </a:p>
          <a:p>
            <a:pPr>
              <a:spcBef>
                <a:spcPts val="600"/>
              </a:spcBef>
              <a:defRPr sz="1800"/>
            </a:pPr>
            <a:r>
              <a:t>**녹화 시작** 버튼 (●) 클릭</a:t>
            </a:r>
          </a:p>
          <a:p>
            <a:pPr>
              <a:spcBef>
                <a:spcPts val="600"/>
              </a:spcBef>
              <a:defRPr sz="1800"/>
            </a:pPr>
            <a:r>
              <a:t>녹화 중지 시: **녹화 중지** 버튼 (■) 클릭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녹화 기능 - 녹화 파일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파일 저장 위치</a:t>
            </a:r>
          </a:p>
          <a:p>
            <a:pPr lvl="1">
              <a:spcBef>
                <a:spcPts val="600"/>
              </a:spcBef>
              <a:defRPr sz="1600"/>
            </a:pPr>
            <a:r>
              <a:t>recordings/</a:t>
            </a:r>
          </a:p>
          <a:p>
            <a:pPr lvl="1">
              <a:spcBef>
                <a:spcPts val="600"/>
              </a:spcBef>
              <a:defRPr sz="1600"/>
            </a:pPr>
            <a:r>
              <a:t>├── cam_01/</a:t>
            </a:r>
          </a:p>
          <a:p>
            <a:pPr lvl="1">
              <a:spcBef>
                <a:spcPts val="600"/>
              </a:spcBef>
              <a:defRPr sz="1600"/>
            </a:pPr>
            <a:r>
              <a:t>│   ├── 2025-11-13/</a:t>
            </a:r>
          </a:p>
          <a:p>
            <a:pPr lvl="1">
              <a:spcBef>
                <a:spcPts val="600"/>
              </a:spcBef>
              <a:defRPr sz="1600"/>
            </a:pPr>
            <a:r>
              <a:t>│   │   ├── cam_01_20251113_090000.mp4</a:t>
            </a:r>
          </a:p>
          <a:p>
            <a:pPr lvl="1">
              <a:spcBef>
                <a:spcPts val="600"/>
              </a:spcBef>
              <a:defRPr sz="1600"/>
            </a:pPr>
            <a:r>
              <a:t>│   │   ├── cam_01_20251113_091000.mp4</a:t>
            </a:r>
          </a:p>
          <a:p>
            <a:pPr lvl="1">
              <a:spcBef>
                <a:spcPts val="600"/>
              </a:spcBef>
              <a:defRPr sz="1600"/>
            </a:pPr>
            <a:r>
              <a:t>│   │   └── cam_01_20251113_092000.mp4</a:t>
            </a:r>
          </a:p>
          <a:p>
            <a:pPr lvl="1">
              <a:spcBef>
                <a:spcPts val="600"/>
              </a:spcBef>
              <a:defRPr sz="1600"/>
            </a:pPr>
            <a:r>
              <a:t>│   └── 2025-11-14/</a:t>
            </a:r>
          </a:p>
          <a:p>
            <a:pPr lvl="1">
              <a:spcBef>
                <a:spcPts val="600"/>
              </a:spcBef>
              <a:defRPr sz="1600"/>
            </a:pPr>
            <a:r>
              <a:t>│       └── ...</a:t>
            </a:r>
          </a:p>
          <a:p>
            <a:pPr lvl="1">
              <a:spcBef>
                <a:spcPts val="600"/>
              </a:spcBef>
              <a:defRPr sz="1600"/>
            </a:pPr>
            <a:r>
              <a:t>- 카메라별로 폴더 구분</a:t>
            </a:r>
          </a:p>
          <a:p>
            <a:pPr lvl="1">
              <a:spcBef>
                <a:spcPts val="600"/>
              </a:spcBef>
              <a:defRPr sz="1600"/>
            </a:pPr>
            <a:r>
              <a:t>- 날짜별로 하위 폴더 생성</a:t>
            </a:r>
          </a:p>
          <a:p>
            <a:pPr lvl="1">
              <a:spcBef>
                <a:spcPts val="600"/>
              </a:spcBef>
              <a:defRPr sz="1600"/>
            </a:pPr>
            <a:r>
              <a:t>- 파일명 형식: `{카메라ID}_{날짜}_{시간}.mp4`</a:t>
            </a:r>
          </a:p>
          <a:p>
            <a:pPr lvl="1">
              <a:spcBef>
                <a:spcPts val="600"/>
              </a:spcBef>
              <a:defRPr sz="1600"/>
            </a:pPr>
            <a:r>
              <a:t>- 기본 설정: **10분 단위**로 파일 자동 분할</a:t>
            </a:r>
          </a:p>
          <a:p>
            <a:pPr lvl="1">
              <a:spcBef>
                <a:spcPts val="600"/>
              </a:spcBef>
              <a:defRPr sz="1600"/>
            </a:pPr>
            <a:r>
              <a:t>- 설정 변경: **메뉴 → 설정 → 환경설정 → 녹화** 탭</a:t>
            </a:r>
          </a:p>
          <a:p>
            <a:pPr lvl="1">
              <a:spcBef>
                <a:spcPts val="600"/>
              </a:spcBef>
              <a:defRPr sz="1600"/>
            </a:pPr>
            <a:r>
              <a:t>- **파일 분할 시간**: 1~60분 설정 가능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재생 기능 - 녹화 파일 재생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**재생 패널** 활성화 (하단 또는 독립 창)</a:t>
            </a:r>
          </a:p>
          <a:p>
            <a:pPr>
              <a:spcBef>
                <a:spcPts val="600"/>
              </a:spcBef>
              <a:defRPr sz="1800"/>
            </a:pPr>
            <a:r>
              <a:t>**날짜 선택**: 달력 아이콘 클릭하여 원하는 날짜 선택</a:t>
            </a:r>
          </a:p>
          <a:p>
            <a:pPr>
              <a:spcBef>
                <a:spcPts val="600"/>
              </a:spcBef>
              <a:defRPr sz="1800"/>
            </a:pPr>
            <a:r>
              <a:t>**카메라 선택**: 드롭다운 메뉴에서 카메라 선택</a:t>
            </a:r>
          </a:p>
          <a:p>
            <a:pPr>
              <a:spcBef>
                <a:spcPts val="600"/>
              </a:spcBef>
              <a:defRPr sz="1800"/>
            </a:pPr>
            <a:r>
              <a:t>**파일 목록 확인**: 선택한 날짜/카메라의 녹화 파일 목록 표시</a:t>
            </a:r>
          </a:p>
          <a:p>
            <a:pPr>
              <a:spcBef>
                <a:spcPts val="600"/>
              </a:spcBef>
              <a:defRPr sz="1800"/>
            </a:pPr>
            <a:r>
              <a:t>**재생**: 원하는 파일을 더블클릭하거나 재생 버튼 (▶) 클릭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재생 기능 - 재생 컨트롤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spcBef>
                <a:spcPts val="600"/>
              </a:spcBef>
              <a:defRPr sz="1600"/>
            </a:pPr>
            <a:r>
              <a:t>◀ 이전 파일    ▶ 재생/일시정지    ■ 정지    ▶▶ 다음 파일</a:t>
            </a:r>
          </a:p>
          <a:p>
            <a:pPr lvl="1">
              <a:spcBef>
                <a:spcPts val="600"/>
              </a:spcBef>
              <a:defRPr sz="1600"/>
            </a:pPr>
            <a:r>
              <a:t>├──────────────────────────────────────────────┤ 타임라인</a:t>
            </a:r>
          </a:p>
          <a:p>
            <a:pPr lvl="1">
              <a:spcBef>
                <a:spcPts val="600"/>
              </a:spcBef>
              <a:defRPr sz="1600"/>
            </a:pPr>
            <a:r>
              <a:t>00:00                                      10:00</a:t>
            </a:r>
          </a:p>
          <a:p>
            <a:pPr lvl="1">
              <a:spcBef>
                <a:spcPts val="600"/>
              </a:spcBef>
              <a:defRPr sz="1600"/>
            </a:pPr>
            <a:r>
              <a:t>속도: [0.5x] [1.0x] [1.5x] [2.0x]</a:t>
            </a:r>
          </a:p>
          <a:p>
            <a:pPr lvl="1">
              <a:spcBef>
                <a:spcPts val="600"/>
              </a:spcBef>
              <a:defRPr sz="1600"/>
            </a:pPr>
            <a:r>
              <a:t>음소거: [🔇]  볼륨: ├────────┤</a:t>
            </a:r>
          </a:p>
          <a:p>
            <a:pPr>
              <a:spcBef>
                <a:spcPts val="600"/>
              </a:spcBef>
              <a:defRPr sz="1800" b="1"/>
            </a:pPr>
            <a:r>
              <a:t>재생/일시정지: 스페이스바 또는 ▶ 버튼</a:t>
            </a:r>
          </a:p>
          <a:p>
            <a:pPr>
              <a:spcBef>
                <a:spcPts val="600"/>
              </a:spcBef>
              <a:defRPr sz="1800" b="1"/>
            </a:pPr>
            <a:r>
              <a:t>정지: ■ 버튼</a:t>
            </a:r>
          </a:p>
          <a:p>
            <a:pPr>
              <a:spcBef>
                <a:spcPts val="600"/>
              </a:spcBef>
              <a:defRPr sz="1800" b="1"/>
            </a:pPr>
            <a:r>
              <a:t>이전/다음 파일: ◀ / ▶▶ 버튼</a:t>
            </a:r>
          </a:p>
          <a:p>
            <a:pPr>
              <a:spcBef>
                <a:spcPts val="600"/>
              </a:spcBef>
              <a:defRPr sz="1800" b="1"/>
            </a:pPr>
            <a:r>
              <a:t>타임라인: 드래그하여 원하는 시점으로 이동</a:t>
            </a:r>
          </a:p>
          <a:p>
            <a:pPr>
              <a:spcBef>
                <a:spcPts val="600"/>
              </a:spcBef>
              <a:defRPr sz="1800" b="1"/>
            </a:pPr>
            <a:r>
              <a:t>재생 속도: 0.5배속 ~ 2배속 선택</a:t>
            </a:r>
          </a:p>
          <a:p>
            <a:pPr>
              <a:spcBef>
                <a:spcPts val="600"/>
              </a:spcBef>
              <a:defRPr sz="1800" b="1"/>
            </a:pPr>
            <a:r>
              <a:t>음소거/볼륨: 음량 조절 및 음소거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재생 기능 - 타임라인 검색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**타임라인 바**에서 원하는 시간대 클릭</a:t>
            </a:r>
          </a:p>
          <a:p>
            <a:pPr>
              <a:spcBef>
                <a:spcPts val="600"/>
              </a:spcBef>
              <a:defRPr sz="1800"/>
            </a:pPr>
            <a:r>
              <a:t>해당 시점부터 재생 시작</a:t>
            </a:r>
          </a:p>
          <a:p>
            <a:pPr>
              <a:spcBef>
                <a:spcPts val="600"/>
              </a:spcBef>
              <a:defRPr sz="1800"/>
            </a:pPr>
            <a:r>
              <a:t>마우스 드래그로 빠른 검색 가능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PTZ 카메라 제어 - PTZ 카메라 설정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PTZ(Pan-Tilt-Zoom) 기능을 지원하는 카메라의 경우, 원격으로 카메라 방향과 줌을 조절할 수 있습니다.</a:t>
            </a:r>
          </a:p>
          <a:p>
            <a:pPr>
              <a:spcBef>
                <a:spcPts val="600"/>
              </a:spcBef>
              <a:defRPr sz="1800"/>
            </a:pPr>
            <a:r>
              <a:t>**메뉴 → 설정 → 환경설정 → 카메라** 탭</a:t>
            </a:r>
          </a:p>
          <a:p>
            <a:pPr>
              <a:spcBef>
                <a:spcPts val="600"/>
              </a:spcBef>
              <a:defRPr sz="1800"/>
            </a:pPr>
            <a:r>
              <a:t>PTZ 카메라 선택 후 **수정**</a:t>
            </a:r>
          </a:p>
          <a:p>
            <a:pPr>
              <a:spcBef>
                <a:spcPts val="600"/>
              </a:spcBef>
              <a:defRPr sz="1800"/>
            </a:pPr>
            <a:r>
              <a:t>**PTZ 설정** 섹션:</a:t>
            </a:r>
          </a:p>
          <a:p>
            <a:pPr lvl="1">
              <a:spcBef>
                <a:spcPts val="600"/>
              </a:spcBef>
              <a:defRPr sz="1600" b="1"/>
            </a:pPr>
            <a:r>
              <a:t>PTZ 타입: HIK 또는 ONVIF 선택</a:t>
            </a:r>
          </a:p>
          <a:p>
            <a:pPr lvl="1">
              <a:spcBef>
                <a:spcPts val="600"/>
              </a:spcBef>
              <a:defRPr sz="1600" b="1"/>
            </a:pPr>
            <a:r>
              <a:t>PTZ 포트: 제어 포트 (기본값: 8000)</a:t>
            </a:r>
          </a:p>
          <a:p>
            <a:pPr lvl="1">
              <a:spcBef>
                <a:spcPts val="600"/>
              </a:spcBef>
              <a:defRPr sz="1600" b="1"/>
            </a:pPr>
            <a:r>
              <a:t>PTZ 채널: 카메라 채널 번호 (기본값: 1)</a:t>
            </a:r>
          </a:p>
          <a:p>
            <a:pPr>
              <a:spcBef>
                <a:spcPts val="600"/>
              </a:spcBef>
              <a:defRPr sz="1800"/>
            </a:pPr>
            <a:r>
              <a:t>**확인** 클릭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PTZ 카메라 제어 - PTZ 제어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키보드 단축키 (기본 설정)</a:t>
            </a:r>
          </a:p>
          <a:p>
            <a:pPr>
              <a:spcBef>
                <a:spcPts val="600"/>
              </a:spcBef>
              <a:defRPr sz="1800" b="1"/>
            </a:pPr>
            <a:r>
              <a:t>방향 제어:</a:t>
            </a:r>
          </a:p>
          <a:p>
            <a:pPr lvl="1">
              <a:spcBef>
                <a:spcPts val="600"/>
              </a:spcBef>
              <a:defRPr sz="1600"/>
            </a:pPr>
            <a:r>
              <a:t>`↑` / `↓` / `←` / `→`: 상/하/좌/우 이동</a:t>
            </a:r>
          </a:p>
          <a:p>
            <a:pPr lvl="1">
              <a:spcBef>
                <a:spcPts val="600"/>
              </a:spcBef>
              <a:defRPr sz="1600"/>
            </a:pPr>
            <a:r>
              <a:t>`Home` / `End` / `PgUp` / `PgDn`: 대각선 이동</a:t>
            </a:r>
          </a:p>
          <a:p>
            <a:pPr>
              <a:spcBef>
                <a:spcPts val="600"/>
              </a:spcBef>
              <a:defRPr sz="1800" b="1"/>
            </a:pPr>
            <a:r>
              <a:t>줌 제어:</a:t>
            </a:r>
          </a:p>
          <a:p>
            <a:pPr lvl="1">
              <a:spcBef>
                <a:spcPts val="600"/>
              </a:spcBef>
              <a:defRPr sz="1600"/>
            </a:pPr>
            <a:r>
              <a:t>`V`: 줌 인 (확대)</a:t>
            </a:r>
          </a:p>
          <a:p>
            <a:pPr lvl="1">
              <a:spcBef>
                <a:spcPts val="600"/>
              </a:spcBef>
              <a:defRPr sz="1600"/>
            </a:pPr>
            <a:r>
              <a:t>`B`: 줌 아웃 (축소)</a:t>
            </a:r>
          </a:p>
          <a:p>
            <a:pPr>
              <a:spcBef>
                <a:spcPts val="600"/>
              </a:spcBef>
              <a:defRPr sz="1800" b="1"/>
            </a:pPr>
            <a:r>
              <a:t>속도 조절:</a:t>
            </a:r>
          </a:p>
          <a:p>
            <a:pPr lvl="1">
              <a:spcBef>
                <a:spcPts val="600"/>
              </a:spcBef>
              <a:defRPr sz="1600"/>
            </a:pPr>
            <a:r>
              <a:t>`+` / `-`: 이동 속도 증가/감소</a:t>
            </a:r>
          </a:p>
          <a:p>
            <a:pPr>
              <a:spcBef>
                <a:spcPts val="600"/>
              </a:spcBef>
              <a:defRPr sz="1800" b="1"/>
            </a:pPr>
            <a:r>
              <a:t>마우스 제어 (선택사항)</a:t>
            </a:r>
          </a:p>
          <a:p>
            <a:pPr>
              <a:spcBef>
                <a:spcPts val="600"/>
              </a:spcBef>
              <a:defRPr sz="1800"/>
            </a:pPr>
            <a:r>
              <a:t>비디오 화면에서 PTZ 제어 패널 활성화</a:t>
            </a:r>
          </a:p>
          <a:p>
            <a:pPr>
              <a:spcBef>
                <a:spcPts val="600"/>
              </a:spcBef>
              <a:defRPr sz="1800"/>
            </a:pPr>
            <a:r>
              <a:t>방향 버튼 및 줌 슬라이더 사용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PTZ 카메라 제어 - PTZ 단축키 사용자 지정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**메뉴 → 설정 → 환경설정 → PTZ 키** 탭</a:t>
            </a:r>
          </a:p>
          <a:p>
            <a:pPr>
              <a:spcBef>
                <a:spcPts val="600"/>
              </a:spcBef>
              <a:defRPr sz="1800"/>
            </a:pPr>
            <a:r>
              <a:t>변경하려는 기능 선택</a:t>
            </a:r>
          </a:p>
          <a:p>
            <a:pPr>
              <a:spcBef>
                <a:spcPts val="600"/>
              </a:spcBef>
              <a:defRPr sz="1800"/>
            </a:pPr>
            <a:r>
              <a:t>새로운 키 입력</a:t>
            </a:r>
          </a:p>
          <a:p>
            <a:pPr>
              <a:spcBef>
                <a:spcPts val="600"/>
              </a:spcBef>
              <a:defRPr sz="1800"/>
            </a:pPr>
            <a:r>
              <a:t>**확인** 클릭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시스템 설정 - 환경설정 접근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메뉴 → 설정 → 환경설정 또는 `F2` 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시스템 설정 - 주요 설정 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1. 기본 설정</a:t>
            </a:r>
          </a:p>
          <a:p>
            <a:pPr>
              <a:spcBef>
                <a:spcPts val="600"/>
              </a:spcBef>
              <a:defRPr sz="1800" b="1"/>
            </a:pPr>
            <a:r>
              <a:t>언어: 인터페이스 언어 (한국어/English)</a:t>
            </a:r>
          </a:p>
          <a:p>
            <a:pPr>
              <a:spcBef>
                <a:spcPts val="600"/>
              </a:spcBef>
              <a:defRPr sz="1800" b="1"/>
            </a:pPr>
            <a:r>
              <a:t>로그 레벨: DEBUG, INFO, WARNING, ERROR</a:t>
            </a:r>
          </a:p>
          <a:p>
            <a:pPr>
              <a:spcBef>
                <a:spcPts val="600"/>
              </a:spcBef>
              <a:defRPr sz="1800" b="1"/>
            </a:pPr>
            <a:r>
              <a:t>시작 옵션:</a:t>
            </a:r>
          </a:p>
          <a:p>
            <a:pPr lvl="1">
              <a:spcBef>
                <a:spcPts val="600"/>
              </a:spcBef>
              <a:defRPr sz="1600"/>
            </a:pPr>
            <a:r>
              <a:t>전체화면으로 시작</a:t>
            </a:r>
          </a:p>
          <a:p>
            <a:pPr lvl="1">
              <a:spcBef>
                <a:spcPts val="600"/>
              </a:spcBef>
              <a:defRPr sz="1600"/>
            </a:pPr>
            <a:r>
              <a:t>시스템 트레이에 최소화</a:t>
            </a:r>
          </a:p>
          <a:p>
            <a:pPr>
              <a:spcBef>
                <a:spcPts val="600"/>
              </a:spcBef>
              <a:defRPr sz="1800" b="1"/>
            </a:pPr>
            <a:r>
              <a:t>2. 카메라 설정</a:t>
            </a:r>
          </a:p>
          <a:p>
            <a:pPr>
              <a:spcBef>
                <a:spcPts val="600"/>
              </a:spcBef>
              <a:defRPr sz="1800"/>
            </a:pPr>
            <a:r>
              <a:t>카메라 추가/수정/삭제</a:t>
            </a:r>
          </a:p>
          <a:p>
            <a:pPr>
              <a:spcBef>
                <a:spcPts val="600"/>
              </a:spcBef>
              <a:defRPr sz="1800"/>
            </a:pPr>
            <a:r>
              <a:t>RTSP URL 및 인증 정보</a:t>
            </a:r>
          </a:p>
          <a:p>
            <a:pPr>
              <a:spcBef>
                <a:spcPts val="600"/>
              </a:spcBef>
              <a:defRPr sz="1800"/>
            </a:pPr>
            <a:r>
              <a:t>PTZ 설정</a:t>
            </a:r>
          </a:p>
          <a:p>
            <a:pPr>
              <a:spcBef>
                <a:spcPts val="600"/>
              </a:spcBef>
              <a:defRPr sz="1800"/>
            </a:pPr>
            <a:r>
              <a:t>비디오 변환 (회전, 뒤집기)</a:t>
            </a:r>
          </a:p>
          <a:p>
            <a:pPr>
              <a:spcBef>
                <a:spcPts val="600"/>
              </a:spcBef>
              <a:defRPr sz="1800" b="1"/>
            </a:pPr>
            <a:r>
              <a:t>3. 스트리밍 설정</a:t>
            </a:r>
          </a:p>
          <a:p>
            <a:pPr>
              <a:spcBef>
                <a:spcPts val="600"/>
              </a:spcBef>
              <a:defRPr sz="1800" b="1"/>
            </a:pPr>
            <a:r>
              <a:t>버퍼 크기: 네트워크 지연 보상 (기본: 2000ms)</a:t>
            </a:r>
          </a:p>
          <a:p>
            <a:pPr>
              <a:spcBef>
                <a:spcPts val="600"/>
              </a:spcBef>
              <a:defRPr sz="1800" b="1"/>
            </a:pPr>
            <a:r>
              <a:t>재연결 설정:</a:t>
            </a:r>
          </a:p>
          <a:p>
            <a:pPr lvl="1">
              <a:spcBef>
                <a:spcPts val="600"/>
              </a:spcBef>
              <a:defRPr sz="1600"/>
            </a:pPr>
            <a:r>
              <a:t>재연결 시도 횟수 (기본: 10회)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백업 및 저장공간 관리 - 수동 백업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**재생 패널**에서 백업할 파일 선택</a:t>
            </a:r>
          </a:p>
          <a:p>
            <a:pPr>
              <a:spcBef>
                <a:spcPts val="600"/>
              </a:spcBef>
              <a:defRPr sz="1800"/>
            </a:pPr>
            <a:r>
              <a:t>우클릭 → **백업** 메뉴 선택</a:t>
            </a:r>
          </a:p>
          <a:p>
            <a:pPr>
              <a:spcBef>
                <a:spcPts val="600"/>
              </a:spcBef>
              <a:defRPr sz="1800"/>
            </a:pPr>
            <a:r>
              <a:t>백업 대화상자에서 옵션 설정:</a:t>
            </a:r>
          </a:p>
          <a:p>
            <a:pPr lvl="1">
              <a:spcBef>
                <a:spcPts val="600"/>
              </a:spcBef>
              <a:defRPr sz="1600"/>
            </a:pPr>
            <a:r>
              <a:t>백업 경로 선택</a:t>
            </a:r>
          </a:p>
          <a:p>
            <a:pPr lvl="1">
              <a:spcBef>
                <a:spcPts val="600"/>
              </a:spcBef>
              <a:defRPr sz="1600"/>
            </a:pPr>
            <a:r>
              <a:t>MD5 검증 활성화 (권장)</a:t>
            </a:r>
          </a:p>
          <a:p>
            <a:pPr lvl="1">
              <a:spcBef>
                <a:spcPts val="600"/>
              </a:spcBef>
              <a:defRPr sz="1600"/>
            </a:pPr>
            <a:r>
              <a:t>백업 후 원본 삭제 (선택)</a:t>
            </a:r>
          </a:p>
          <a:p>
            <a:pPr>
              <a:spcBef>
                <a:spcPts val="600"/>
              </a:spcBef>
              <a:defRPr sz="1800"/>
            </a:pPr>
            <a:r>
              <a:t>**백업 시작** 클릭</a:t>
            </a:r>
          </a:p>
          <a:p>
            <a:pPr>
              <a:spcBef>
                <a:spcPts val="600"/>
              </a:spcBef>
              <a:defRPr sz="1800"/>
            </a:pPr>
            <a:r>
              <a:t>진행 상황 모니터링</a:t>
            </a:r>
          </a:p>
          <a:p>
            <a:pPr>
              <a:spcBef>
                <a:spcPts val="600"/>
              </a:spcBef>
              <a:defRPr sz="1800"/>
            </a:pPr>
            <a:r>
              <a:t>완료 시 결과 확인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백업 및 저장공간 관리 - 자동 백업 설정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**메뉴 → 설정 → 환경설정 → 백업** 탭</a:t>
            </a:r>
          </a:p>
          <a:p>
            <a:pPr>
              <a:spcBef>
                <a:spcPts val="600"/>
              </a:spcBef>
              <a:defRPr sz="1800"/>
            </a:pPr>
            <a:r>
              <a:t>**자동 백업 활성화** 체크</a:t>
            </a:r>
          </a:p>
          <a:p>
            <a:pPr>
              <a:spcBef>
                <a:spcPts val="600"/>
              </a:spcBef>
              <a:defRPr sz="1800"/>
            </a:pPr>
            <a:r>
              <a:t>**스케줄 설정**:</a:t>
            </a:r>
          </a:p>
          <a:p>
            <a:pPr lvl="1">
              <a:spcBef>
                <a:spcPts val="600"/>
              </a:spcBef>
              <a:defRPr sz="1600"/>
            </a:pPr>
            <a:r>
              <a:t>백업 시작 시간 (예: 매일 02:00)</a:t>
            </a:r>
          </a:p>
          <a:p>
            <a:pPr lvl="1">
              <a:spcBef>
                <a:spcPts val="600"/>
              </a:spcBef>
              <a:defRPr sz="1600"/>
            </a:pPr>
            <a:r>
              <a:t>백업 대상 (전일 녹화 파일 등)</a:t>
            </a:r>
          </a:p>
          <a:p>
            <a:pPr>
              <a:spcBef>
                <a:spcPts val="600"/>
              </a:spcBef>
              <a:defRPr sz="1800"/>
            </a:pPr>
            <a:r>
              <a:t>**백업 경로** 지정</a:t>
            </a:r>
          </a:p>
          <a:p>
            <a:pPr>
              <a:spcBef>
                <a:spcPts val="600"/>
              </a:spcBef>
              <a:defRPr sz="1800"/>
            </a:pPr>
            <a:r>
              <a:t>**확인** 클릭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백업 및 저장공간 관리 - 저장공간 확인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상태 바</a:t>
            </a:r>
          </a:p>
          <a:p>
            <a:pPr>
              <a:spcBef>
                <a:spcPts val="600"/>
              </a:spcBef>
              <a:defRPr sz="1800"/>
            </a:pPr>
            <a:r>
              <a:t>메인 화면 하단 상태 바에서 실시간 확인:</a:t>
            </a:r>
          </a:p>
          <a:p>
            <a:pPr lvl="1">
              <a:spcBef>
                <a:spcPts val="600"/>
              </a:spcBef>
              <a:defRPr sz="1600"/>
            </a:pPr>
            <a:r>
              <a:t>저장공간: 250GB / 500GB (50% 사용)  |  카메라: 3/3 연결  |  CPU: 45%  |  메모리: 1.2GB</a:t>
            </a:r>
          </a:p>
          <a:p>
            <a:pPr>
              <a:spcBef>
                <a:spcPts val="600"/>
              </a:spcBef>
              <a:defRPr sz="1800" b="1"/>
            </a:pPr>
            <a:r>
              <a:t>상세 정보</a:t>
            </a:r>
          </a:p>
          <a:p>
            <a:pPr>
              <a:spcBef>
                <a:spcPts val="600"/>
              </a:spcBef>
              <a:defRPr sz="1800"/>
            </a:pPr>
            <a:r>
              <a:t>**메뉴 → 보기 → 시스템 상태**</a:t>
            </a:r>
          </a:p>
          <a:p>
            <a:pPr>
              <a:spcBef>
                <a:spcPts val="600"/>
              </a:spcBef>
              <a:defRPr sz="1800"/>
            </a:pPr>
            <a:r>
              <a:t>저장공간 탭에서 확인:</a:t>
            </a:r>
          </a:p>
          <a:p>
            <a:pPr lvl="1">
              <a:spcBef>
                <a:spcPts val="600"/>
              </a:spcBef>
              <a:defRPr sz="1600"/>
            </a:pPr>
            <a:r>
              <a:t>전체 용량 / 사용 중 / 여유 공간</a:t>
            </a:r>
          </a:p>
          <a:p>
            <a:pPr lvl="1">
              <a:spcBef>
                <a:spcPts val="600"/>
              </a:spcBef>
              <a:defRPr sz="1600"/>
            </a:pPr>
            <a:r>
              <a:t>카메라별 사용 공간</a:t>
            </a:r>
          </a:p>
          <a:p>
            <a:pPr lvl="1">
              <a:spcBef>
                <a:spcPts val="600"/>
              </a:spcBef>
              <a:defRPr sz="1600"/>
            </a:pPr>
            <a:r>
              <a:t>예상 녹화 가능 시간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백업 및 저장공간 관리 - 수동 파일 삭제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**재생 패널**에서 삭제할 파일 선택</a:t>
            </a:r>
          </a:p>
          <a:p>
            <a:pPr>
              <a:spcBef>
                <a:spcPts val="600"/>
              </a:spcBef>
              <a:defRPr sz="1800"/>
            </a:pPr>
            <a:r>
              <a:t>우클릭 → **삭제** 메뉴 선택 또는 `Delete` 키</a:t>
            </a:r>
          </a:p>
          <a:p>
            <a:pPr>
              <a:spcBef>
                <a:spcPts val="600"/>
              </a:spcBef>
              <a:defRPr sz="1800"/>
            </a:pPr>
            <a:r>
              <a:t>확인 대화상자에서 **예** 클릭</a:t>
            </a:r>
          </a:p>
          <a:p>
            <a:pPr>
              <a:spcBef>
                <a:spcPts val="600"/>
              </a:spcBef>
              <a:defRPr sz="1800"/>
            </a:pPr>
            <a:r>
              <a:t>진행 상황 표시 (대용량 파일의 경우)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전역 단축키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키 | 기능</a:t>
            </a:r>
          </a:p>
          <a:p>
            <a:pPr>
              <a:spcBef>
                <a:spcPts val="600"/>
              </a:spcBef>
              <a:defRPr sz="1800"/>
            </a:pPr>
            <a:r>
              <a:t>`F1` | 도움말</a:t>
            </a:r>
          </a:p>
          <a:p>
            <a:pPr>
              <a:spcBef>
                <a:spcPts val="600"/>
              </a:spcBef>
              <a:defRPr sz="1800"/>
            </a:pPr>
            <a:r>
              <a:t>`F2` | 환경설정</a:t>
            </a:r>
          </a:p>
          <a:p>
            <a:pPr>
              <a:spcBef>
                <a:spcPts val="600"/>
              </a:spcBef>
              <a:defRPr sz="1800"/>
            </a:pPr>
            <a:r>
              <a:t>`F5` | 화면 새로고침</a:t>
            </a:r>
          </a:p>
          <a:p>
            <a:pPr>
              <a:spcBef>
                <a:spcPts val="600"/>
              </a:spcBef>
              <a:defRPr sz="1800"/>
            </a:pPr>
            <a:r>
              <a:t>`F11` | 전체화면 토글</a:t>
            </a:r>
          </a:p>
          <a:p>
            <a:pPr>
              <a:spcBef>
                <a:spcPts val="600"/>
              </a:spcBef>
              <a:defRPr sz="1800"/>
            </a:pPr>
            <a:r>
              <a:t>`Ctrl + Q` | 프로그램 종료</a:t>
            </a:r>
          </a:p>
          <a:p>
            <a:pPr>
              <a:spcBef>
                <a:spcPts val="600"/>
              </a:spcBef>
              <a:defRPr sz="1800"/>
            </a:pPr>
            <a:r>
              <a:t>`Ctrl + R` | 녹화 시작/중지</a:t>
            </a:r>
          </a:p>
          <a:p>
            <a:pPr>
              <a:spcBef>
                <a:spcPts val="600"/>
              </a:spcBef>
              <a:defRPr sz="1800"/>
            </a:pPr>
            <a:r>
              <a:t>`Ctrl + P` | 재생 패널 토글</a:t>
            </a:r>
          </a:p>
          <a:p>
            <a:pPr>
              <a:spcBef>
                <a:spcPts val="600"/>
              </a:spcBef>
              <a:defRPr sz="1800"/>
            </a:pPr>
            <a:r>
              <a:t>`Ctrl + L` | 로그 뷰어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단축키 - PTZ 제어 (기본값)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키 | 기능</a:t>
            </a:r>
          </a:p>
          <a:p>
            <a:pPr>
              <a:spcBef>
                <a:spcPts val="600"/>
              </a:spcBef>
              <a:defRPr sz="1800"/>
            </a:pPr>
            <a:r>
              <a:t>`↑` `↓` `←` `→` | 카메라 이동 (상/하/좌/우)</a:t>
            </a:r>
          </a:p>
          <a:p>
            <a:pPr>
              <a:spcBef>
                <a:spcPts val="600"/>
              </a:spcBef>
              <a:defRPr sz="1800"/>
            </a:pPr>
            <a:r>
              <a:t>`Home` `End` `PgUp` `PgDn` | 대각선 이동</a:t>
            </a:r>
          </a:p>
          <a:p>
            <a:pPr>
              <a:spcBef>
                <a:spcPts val="600"/>
              </a:spcBef>
              <a:defRPr sz="1800"/>
            </a:pPr>
            <a:r>
              <a:t>`V` | 줌 인</a:t>
            </a:r>
          </a:p>
          <a:p>
            <a:pPr>
              <a:spcBef>
                <a:spcPts val="600"/>
              </a:spcBef>
              <a:defRPr sz="1800"/>
            </a:pPr>
            <a:r>
              <a:t>`B` | 줌 아웃</a:t>
            </a:r>
          </a:p>
          <a:p>
            <a:pPr>
              <a:spcBef>
                <a:spcPts val="600"/>
              </a:spcBef>
              <a:defRPr sz="1800"/>
            </a:pPr>
            <a:r>
              <a:t>`+` `-` | 이동 속도 조절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단축키 - 재생 제어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키 | 기능</a:t>
            </a:r>
          </a:p>
          <a:p>
            <a:pPr>
              <a:spcBef>
                <a:spcPts val="600"/>
              </a:spcBef>
              <a:defRPr sz="1800"/>
            </a:pPr>
            <a:r>
              <a:t>`Space` | 재생/일시정지</a:t>
            </a:r>
          </a:p>
          <a:p>
            <a:pPr>
              <a:spcBef>
                <a:spcPts val="600"/>
              </a:spcBef>
              <a:defRPr sz="1800"/>
            </a:pPr>
            <a:r>
              <a:t>`Enter` | 선택한 파일 재생</a:t>
            </a:r>
          </a:p>
          <a:p>
            <a:pPr>
              <a:spcBef>
                <a:spcPts val="600"/>
              </a:spcBef>
              <a:defRPr sz="1800"/>
            </a:pPr>
            <a:r>
              <a:t>`Esc` | 재생 중지</a:t>
            </a:r>
          </a:p>
          <a:p>
            <a:pPr>
              <a:spcBef>
                <a:spcPts val="600"/>
              </a:spcBef>
              <a:defRPr sz="1800"/>
            </a:pPr>
            <a:r>
              <a:t>`→` | 10초 앞으로</a:t>
            </a:r>
          </a:p>
          <a:p>
            <a:pPr>
              <a:spcBef>
                <a:spcPts val="600"/>
              </a:spcBef>
              <a:defRPr sz="1800"/>
            </a:pPr>
            <a:r>
              <a:t>`←` | 10초 뒤로</a:t>
            </a:r>
          </a:p>
          <a:p>
            <a:pPr>
              <a:spcBef>
                <a:spcPts val="600"/>
              </a:spcBef>
              <a:defRPr sz="1800"/>
            </a:pPr>
            <a:r>
              <a:t>`↑` | 음량 증가</a:t>
            </a:r>
          </a:p>
          <a:p>
            <a:pPr>
              <a:spcBef>
                <a:spcPts val="600"/>
              </a:spcBef>
              <a:defRPr sz="1800"/>
            </a:pPr>
            <a:r>
              <a:t>`↓` | 음량 감소</a:t>
            </a:r>
          </a:p>
          <a:p>
            <a:pPr>
              <a:spcBef>
                <a:spcPts val="600"/>
              </a:spcBef>
              <a:defRPr sz="1800"/>
            </a:pPr>
            <a:r>
              <a:t>`M` | 음소거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단축키 변경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메뉴 → 설정 → 환경설정 → 단축키 탭에서 사용자 정의 가능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문제 해결 - 카메라가 연결되지 않아요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1. RTSP URL 확인</a:t>
            </a:r>
          </a:p>
          <a:p>
            <a:pPr lvl="1">
              <a:spcBef>
                <a:spcPts val="600"/>
              </a:spcBef>
              <a:defRPr sz="1600"/>
            </a:pPr>
            <a:r>
              <a:t>ffplay rtsp://192.168.1.100:554/stream1</a:t>
            </a:r>
          </a:p>
          <a:p>
            <a:pPr lvl="1">
              <a:spcBef>
                <a:spcPts val="600"/>
              </a:spcBef>
              <a:defRPr sz="1600"/>
            </a:pPr>
            <a:r>
              <a:t>gst-launch-1.0 rtspsrc location=rtsp://192.168.1.100:554/stream1 ! fakesink</a:t>
            </a:r>
          </a:p>
          <a:p>
            <a:pPr>
              <a:spcBef>
                <a:spcPts val="600"/>
              </a:spcBef>
              <a:defRPr sz="1800" b="1"/>
            </a:pPr>
            <a:r>
              <a:t>2. 네트워크 연결 확인</a:t>
            </a:r>
          </a:p>
          <a:p>
            <a:pPr lvl="1">
              <a:spcBef>
                <a:spcPts val="600"/>
              </a:spcBef>
              <a:defRPr sz="1600"/>
            </a:pPr>
            <a:r>
              <a:t>ping 192.168.1.100</a:t>
            </a:r>
          </a:p>
          <a:p>
            <a:pPr lvl="1">
              <a:spcBef>
                <a:spcPts val="600"/>
              </a:spcBef>
              <a:defRPr sz="1600"/>
            </a:pPr>
            <a:r>
              <a:t>nc -zv 192.168.1.100 554</a:t>
            </a:r>
          </a:p>
          <a:p>
            <a:pPr>
              <a:spcBef>
                <a:spcPts val="600"/>
              </a:spcBef>
              <a:defRPr sz="1800" b="1"/>
            </a:pPr>
            <a:r>
              <a:t>3. 인증 정보 확인</a:t>
            </a:r>
          </a:p>
          <a:p>
            <a:pPr>
              <a:spcBef>
                <a:spcPts val="600"/>
              </a:spcBef>
              <a:defRPr sz="1800"/>
            </a:pPr>
            <a:r>
              <a:t>카메라 사용자명/비밀번호가 올바른지 확인</a:t>
            </a:r>
          </a:p>
          <a:p>
            <a:pPr>
              <a:spcBef>
                <a:spcPts val="600"/>
              </a:spcBef>
              <a:defRPr sz="1800"/>
            </a:pPr>
            <a:r>
              <a:t>URL에 인증 정보 포함: `rtsp://admin:password@IP:554/stream`</a:t>
            </a:r>
          </a:p>
          <a:p>
            <a:pPr>
              <a:spcBef>
                <a:spcPts val="600"/>
              </a:spcBef>
              <a:defRPr sz="1800" b="1"/>
            </a:pPr>
            <a:r>
              <a:t>4. 방화벽 확인</a:t>
            </a:r>
          </a:p>
          <a:p>
            <a:pPr>
              <a:spcBef>
                <a:spcPts val="600"/>
              </a:spcBef>
              <a:defRPr sz="1800"/>
            </a:pPr>
            <a:r>
              <a:t>RTSP 포트(기본 554) 방화벽 허용 확인</a:t>
            </a:r>
          </a:p>
          <a:p>
            <a:pPr>
              <a:spcBef>
                <a:spcPts val="600"/>
              </a:spcBef>
              <a:defRPr sz="1800"/>
            </a:pPr>
            <a:r>
              <a:t>라우터 포트 포워딩 설정 확인 (외부 네트워크 접근 시)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문제 해결 - 녹화 파일이 생성되지 않아요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1. 저장 경로 확인</a:t>
            </a:r>
          </a:p>
          <a:p>
            <a:pPr>
              <a:spcBef>
                <a:spcPts val="600"/>
              </a:spcBef>
              <a:defRPr sz="1800" b="1"/>
            </a:pPr>
            <a:r>
              <a:t>메뉴 → 설정 → 환경설정 → 저장공간 탭</a:t>
            </a:r>
          </a:p>
          <a:p>
            <a:pPr>
              <a:spcBef>
                <a:spcPts val="600"/>
              </a:spcBef>
              <a:defRPr sz="1800"/>
            </a:pPr>
            <a:r>
              <a:t>녹화 경로가 올바르게 설정되어 있는지 확인</a:t>
            </a:r>
          </a:p>
          <a:p>
            <a:pPr>
              <a:spcBef>
                <a:spcPts val="600"/>
              </a:spcBef>
              <a:defRPr sz="1800"/>
            </a:pPr>
            <a:r>
              <a:t>해당 경로에 쓰기 권한이 있는지 확인</a:t>
            </a:r>
          </a:p>
          <a:p>
            <a:pPr>
              <a:spcBef>
                <a:spcPts val="600"/>
              </a:spcBef>
              <a:defRPr sz="1800"/>
            </a:pPr>
            <a:r>
              <a:t>ls -ld /path/to/recordings</a:t>
            </a:r>
          </a:p>
          <a:p>
            <a:pPr>
              <a:spcBef>
                <a:spcPts val="600"/>
              </a:spcBef>
              <a:defRPr sz="1800"/>
            </a:pPr>
            <a:r>
              <a:t># drwxrwxr-x 형태로 쓰기 권한 확인</a:t>
            </a:r>
          </a:p>
          <a:p>
            <a:pPr>
              <a:spcBef>
                <a:spcPts val="600"/>
              </a:spcBef>
              <a:defRPr sz="1800" b="1"/>
            </a:pPr>
            <a:r>
              <a:t>2. 디스크 공간 확인</a:t>
            </a:r>
          </a:p>
          <a:p>
            <a:pPr lvl="1">
              <a:spcBef>
                <a:spcPts val="600"/>
              </a:spcBef>
              <a:defRPr sz="1600"/>
            </a:pPr>
            <a:r>
              <a:t>df -h /path/to/recordings</a:t>
            </a:r>
          </a:p>
          <a:p>
            <a:pPr>
              <a:spcBef>
                <a:spcPts val="600"/>
              </a:spcBef>
              <a:defRPr sz="1800" b="1"/>
            </a:pPr>
            <a:r>
              <a:t>3. 녹화 설정 확인</a:t>
            </a:r>
          </a:p>
          <a:p>
            <a:pPr>
              <a:spcBef>
                <a:spcPts val="600"/>
              </a:spcBef>
              <a:defRPr sz="1800" b="1"/>
            </a:pPr>
            <a:r>
              <a:t>녹화 제어 패널에서 녹화가 실제로 시작되었는지 확인</a:t>
            </a:r>
          </a:p>
          <a:p>
            <a:pPr>
              <a:spcBef>
                <a:spcPts val="600"/>
              </a:spcBef>
              <a:defRPr sz="1800"/>
            </a:pPr>
            <a:r>
              <a:t>녹화 상태 표시등이 켜져 있는지 확인</a:t>
            </a:r>
          </a:p>
          <a:p>
            <a:pPr>
              <a:spcBef>
                <a:spcPts val="600"/>
              </a:spcBef>
              <a:defRPr sz="1800" b="1"/>
            </a:pPr>
            <a:r>
              <a:t>4. 로그 확인</a:t>
            </a:r>
          </a:p>
          <a:p>
            <a:pPr lvl="1">
              <a:spcBef>
                <a:spcPts val="600"/>
              </a:spcBef>
              <a:defRPr sz="1600"/>
            </a:pPr>
            <a:r>
              <a:t>python main.py --debug</a:t>
            </a:r>
          </a:p>
          <a:p>
            <a:pPr lvl="1">
              <a:spcBef>
                <a:spcPts val="600"/>
              </a:spcBef>
              <a:defRPr sz="1600"/>
            </a:pPr>
            <a:r>
              <a:t>cat _logs/nvr_*.log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문제 해결 - 녹화 파일이 재생되지 않아요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1. 파일 크기 확인</a:t>
            </a:r>
          </a:p>
          <a:p>
            <a:pPr>
              <a:spcBef>
                <a:spcPts val="600"/>
              </a:spcBef>
              <a:defRPr sz="1800"/>
            </a:pPr>
            <a:r>
              <a:t>0 바이트 파일: 녹화가 제대로 완료되지 않음</a:t>
            </a:r>
          </a:p>
          <a:p>
            <a:pPr>
              <a:spcBef>
                <a:spcPts val="600"/>
              </a:spcBef>
              <a:defRPr sz="1800"/>
            </a:pPr>
            <a:r>
              <a:t>해결: 파일 분할 시간 간격 확인 및 수동 녹화 중지 대신 자동 분할 사용</a:t>
            </a:r>
          </a:p>
          <a:p>
            <a:pPr>
              <a:spcBef>
                <a:spcPts val="600"/>
              </a:spcBef>
              <a:defRPr sz="1800" b="1"/>
            </a:pPr>
            <a:r>
              <a:t>2. 코덱 확인</a:t>
            </a:r>
          </a:p>
          <a:p>
            <a:pPr lvl="1">
              <a:spcBef>
                <a:spcPts val="600"/>
              </a:spcBef>
              <a:defRPr sz="1600"/>
            </a:pPr>
            <a:r>
              <a:t>ffprobe recording_file.mp4</a:t>
            </a:r>
          </a:p>
          <a:p>
            <a:pPr lvl="1">
              <a:spcBef>
                <a:spcPts val="600"/>
              </a:spcBef>
              <a:defRPr sz="1600"/>
            </a:pPr>
            <a:r>
              <a:t>gst-discoverer-1.0 recording_file.mp4</a:t>
            </a:r>
          </a:p>
          <a:p>
            <a:pPr>
              <a:spcBef>
                <a:spcPts val="600"/>
              </a:spcBef>
              <a:defRPr sz="1800" b="1"/>
            </a:pPr>
            <a:r>
              <a:t>3. 미디어 플레이어 확인</a:t>
            </a:r>
          </a:p>
          <a:p>
            <a:pPr>
              <a:spcBef>
                <a:spcPts val="600"/>
              </a:spcBef>
              <a:defRPr sz="1800"/>
            </a:pPr>
            <a:r>
              <a:t>VLC, MPV 등 다양한 플레이어로 테스트</a:t>
            </a:r>
          </a:p>
          <a:p>
            <a:pPr>
              <a:spcBef>
                <a:spcPts val="600"/>
              </a:spcBef>
              <a:defRPr sz="1800"/>
            </a:pPr>
            <a:r>
              <a:t>프로그램 내장 플레이어로 재생 시도</a:t>
            </a:r>
          </a:p>
          <a:p>
            <a:pPr>
              <a:spcBef>
                <a:spcPts val="600"/>
              </a:spcBef>
              <a:defRPr sz="1800" b="1"/>
            </a:pPr>
            <a:r>
              <a:t>4. 파일 손상</a:t>
            </a:r>
          </a:p>
          <a:p>
            <a:pPr>
              <a:spcBef>
                <a:spcPts val="600"/>
              </a:spcBef>
              <a:defRPr sz="1800"/>
            </a:pPr>
            <a:r>
              <a:t>녹화 중 프로그램이 비정상 종료된 경우 파일 손상 가능</a:t>
            </a:r>
          </a:p>
          <a:p>
            <a:pPr>
              <a:spcBef>
                <a:spcPts val="600"/>
              </a:spcBef>
              <a:defRPr sz="1800"/>
            </a:pPr>
            <a:r>
              <a:t>복구 시도:</a:t>
            </a:r>
          </a:p>
          <a:p>
            <a:pPr>
              <a:spcBef>
                <a:spcPts val="600"/>
              </a:spcBef>
              <a:defRPr sz="1800"/>
            </a:pPr>
            <a:r>
              <a:t>ffmpeg -i damaged.mp4 -c copy repaired.mp4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문제 해결 - 영상이 끊겨요 (버퍼링)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1. 네트워크 대역폭 확인</a:t>
            </a:r>
          </a:p>
          <a:p>
            <a:pPr>
              <a:spcBef>
                <a:spcPts val="600"/>
              </a:spcBef>
              <a:defRPr sz="1800"/>
            </a:pPr>
            <a:r>
              <a:t>다수의 카메라 동시 스트리밍 시 네트워크 부하 증가</a:t>
            </a:r>
          </a:p>
          <a:p>
            <a:pPr>
              <a:spcBef>
                <a:spcPts val="600"/>
              </a:spcBef>
              <a:defRPr sz="1800"/>
            </a:pPr>
            <a:r>
              <a:t>해결: 카메라 해상도/비트레이트 낮추기</a:t>
            </a:r>
          </a:p>
          <a:p>
            <a:pPr>
              <a:spcBef>
                <a:spcPts val="600"/>
              </a:spcBef>
              <a:defRPr sz="1800" b="1"/>
            </a:pPr>
            <a:r>
              <a:t>2. CPU 사용률 확인</a:t>
            </a:r>
          </a:p>
          <a:p>
            <a:pPr>
              <a:spcBef>
                <a:spcPts val="600"/>
              </a:spcBef>
              <a:defRPr sz="1800" b="1"/>
            </a:pPr>
            <a:r>
              <a:t>상태 바 또는 시스템 상태 창에서 CPU 사용률 확인</a:t>
            </a:r>
          </a:p>
          <a:p>
            <a:pPr>
              <a:spcBef>
                <a:spcPts val="600"/>
              </a:spcBef>
              <a:defRPr sz="1800"/>
            </a:pPr>
            <a:r>
              <a:t>해결:</a:t>
            </a:r>
          </a:p>
          <a:p>
            <a:pPr lvl="1">
              <a:spcBef>
                <a:spcPts val="600"/>
              </a:spcBef>
              <a:defRPr sz="1600"/>
            </a:pPr>
            <a:r>
              <a:t>동시 스트리밍 카메라 수 줄이기</a:t>
            </a:r>
          </a:p>
          <a:p>
            <a:pPr lvl="1">
              <a:spcBef>
                <a:spcPts val="600"/>
              </a:spcBef>
              <a:defRPr sz="1600"/>
            </a:pPr>
            <a:r>
              <a:t>하드웨어 가속 활성화 (라즈베리파이의 경우)</a:t>
            </a:r>
          </a:p>
          <a:p>
            <a:pPr>
              <a:spcBef>
                <a:spcPts val="600"/>
              </a:spcBef>
              <a:defRPr sz="1800" b="1"/>
            </a:pPr>
            <a:r>
              <a:t>3. 버퍼 크기 조정</a:t>
            </a:r>
          </a:p>
          <a:p>
            <a:pPr>
              <a:spcBef>
                <a:spcPts val="600"/>
              </a:spcBef>
              <a:defRPr sz="1800" b="1"/>
            </a:pPr>
            <a:r>
              <a:t>메뉴 → 설정 → 환경설정 → 스트리밍 탭</a:t>
            </a:r>
          </a:p>
          <a:p>
            <a:pPr>
              <a:spcBef>
                <a:spcPts val="600"/>
              </a:spcBef>
              <a:defRPr sz="1800"/>
            </a:pPr>
            <a:r>
              <a:t>버퍼 크기 증가 (예: 2000ms → 5000ms)</a:t>
            </a:r>
          </a:p>
          <a:p>
            <a:pPr>
              <a:spcBef>
                <a:spcPts val="600"/>
              </a:spcBef>
              <a:defRPr sz="1800" b="1"/>
            </a:pPr>
            <a:r>
              <a:t>4. 하드웨어 가속 활성화</a:t>
            </a:r>
          </a:p>
          <a:p>
            <a:pPr>
              <a:spcBef>
                <a:spcPts val="600"/>
              </a:spcBef>
              <a:defRPr sz="1800" b="1"/>
            </a:pPr>
            <a:r>
              <a:t>메뉴 → 설정 → 환경설정 → 스트리밍 탭</a:t>
            </a:r>
          </a:p>
          <a:p>
            <a:pPr>
              <a:spcBef>
                <a:spcPts val="600"/>
              </a:spcBef>
              <a:defRPr sz="1800" b="1"/>
            </a:pPr>
            <a:r>
              <a:t>하드웨어 가속 활성화 체크</a:t>
            </a:r>
          </a:p>
          <a:p>
            <a:pPr>
              <a:spcBef>
                <a:spcPts val="600"/>
              </a:spcBef>
              <a:defRPr sz="1800"/>
            </a:pPr>
            <a:r>
              <a:t>프로그램 재시작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문제 해결 - PTZ 제어가 작동하지 않아요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1. PTZ 설정 확인</a:t>
            </a:r>
          </a:p>
          <a:p>
            <a:pPr>
              <a:spcBef>
                <a:spcPts val="600"/>
              </a:spcBef>
              <a:defRPr sz="1800" b="1"/>
            </a:pPr>
            <a:r>
              <a:t>메뉴 → 설정 → 환경설정 → 카메라 탭</a:t>
            </a:r>
          </a:p>
          <a:p>
            <a:pPr>
              <a:spcBef>
                <a:spcPts val="600"/>
              </a:spcBef>
              <a:defRPr sz="1800"/>
            </a:pPr>
            <a:r>
              <a:t>PTZ 타입, 포트, 채널 번호가 올바른지 확인</a:t>
            </a:r>
          </a:p>
          <a:p>
            <a:pPr>
              <a:spcBef>
                <a:spcPts val="600"/>
              </a:spcBef>
              <a:defRPr sz="1800" b="1"/>
            </a:pPr>
            <a:r>
              <a:t>2. 카메라 선택 확인</a:t>
            </a:r>
          </a:p>
          <a:p>
            <a:pPr>
              <a:spcBef>
                <a:spcPts val="600"/>
              </a:spcBef>
              <a:defRPr sz="1800"/>
            </a:pPr>
            <a:r>
              <a:t>PTZ 제어 전 반드시 해당 카메라를 선택해야 함</a:t>
            </a:r>
          </a:p>
          <a:p>
            <a:pPr>
              <a:spcBef>
                <a:spcPts val="600"/>
              </a:spcBef>
              <a:defRPr sz="1800"/>
            </a:pPr>
            <a:r>
              <a:t>비디오 화면 클릭 또는 카메라 목록에서 선택</a:t>
            </a:r>
          </a:p>
          <a:p>
            <a:pPr>
              <a:spcBef>
                <a:spcPts val="600"/>
              </a:spcBef>
              <a:defRPr sz="1800" b="1"/>
            </a:pPr>
            <a:r>
              <a:t>3. 네트워크 포트 확인</a:t>
            </a:r>
          </a:p>
          <a:p>
            <a:pPr lvl="1">
              <a:spcBef>
                <a:spcPts val="600"/>
              </a:spcBef>
              <a:defRPr sz="1600"/>
            </a:pPr>
            <a:r>
              <a:t>nc -zv 192.168.1.100 8000</a:t>
            </a:r>
          </a:p>
          <a:p>
            <a:pPr>
              <a:spcBef>
                <a:spcPts val="600"/>
              </a:spcBef>
              <a:defRPr sz="1800" b="1"/>
            </a:pPr>
            <a:r>
              <a:t>4. 카메라 호환성 확인</a:t>
            </a:r>
          </a:p>
          <a:p>
            <a:pPr>
              <a:spcBef>
                <a:spcPts val="600"/>
              </a:spcBef>
              <a:defRPr sz="1800"/>
            </a:pPr>
            <a:r>
              <a:t>카메라가 HIK 또는 ONVIF 프로토콜을 지원하는지 확인</a:t>
            </a:r>
          </a:p>
          <a:p>
            <a:pPr>
              <a:spcBef>
                <a:spcPts val="600"/>
              </a:spcBef>
              <a:defRPr sz="1800"/>
            </a:pPr>
            <a:r>
              <a:t>카메라 설정에서 PTZ 기능이 활성화되어 있는지 확인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문제 해결 - 프로그램이 느려요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1. 시스템 리소스 확인</a:t>
            </a:r>
          </a:p>
          <a:p>
            <a:pPr lvl="1">
              <a:spcBef>
                <a:spcPts val="600"/>
              </a:spcBef>
              <a:defRPr sz="1600"/>
            </a:pPr>
            <a:r>
              <a:t>top</a:t>
            </a:r>
          </a:p>
          <a:p>
            <a:pPr lvl="1">
              <a:spcBef>
                <a:spcPts val="600"/>
              </a:spcBef>
              <a:defRPr sz="1600"/>
            </a:pPr>
            <a:r>
              <a:t>htop</a:t>
            </a:r>
          </a:p>
          <a:p>
            <a:pPr lvl="1">
              <a:spcBef>
                <a:spcPts val="600"/>
              </a:spcBef>
              <a:defRPr sz="1600"/>
            </a:pPr>
            <a:r>
              <a:t>vcgencmd measure_temp</a:t>
            </a:r>
          </a:p>
          <a:p>
            <a:pPr>
              <a:spcBef>
                <a:spcPts val="600"/>
              </a:spcBef>
              <a:defRPr sz="1800" b="1"/>
            </a:pPr>
            <a:r>
              <a:t>2. 최적화 방법</a:t>
            </a:r>
          </a:p>
          <a:p>
            <a:pPr>
              <a:spcBef>
                <a:spcPts val="600"/>
              </a:spcBef>
              <a:defRPr sz="1800" b="1"/>
            </a:pPr>
            <a:r>
              <a:t>동시 스트리밍 카메라 수 줄이기: 필요한 카메라만 활성화</a:t>
            </a:r>
          </a:p>
          <a:p>
            <a:pPr>
              <a:spcBef>
                <a:spcPts val="600"/>
              </a:spcBef>
              <a:defRPr sz="1800" b="1"/>
            </a:pPr>
            <a:r>
              <a:t>해상도 낮추기: 카메라 설정에서 서브스트림 사용</a:t>
            </a:r>
          </a:p>
          <a:p>
            <a:pPr>
              <a:spcBef>
                <a:spcPts val="600"/>
              </a:spcBef>
              <a:defRPr sz="1800" b="1"/>
            </a:pPr>
            <a:r>
              <a:t>녹화 비트레이트 조정: 불필요하게 높은 화질 사용하지 않기</a:t>
            </a:r>
          </a:p>
          <a:p>
            <a:pPr>
              <a:spcBef>
                <a:spcPts val="600"/>
              </a:spcBef>
              <a:defRPr sz="1800" b="1"/>
            </a:pPr>
            <a:r>
              <a:t>자동 삭제 정책 활성화: 오래된 파일로 인한 디스크 I/O 부하 감소</a:t>
            </a:r>
          </a:p>
          <a:p>
            <a:pPr>
              <a:spcBef>
                <a:spcPts val="600"/>
              </a:spcBef>
              <a:defRPr sz="1800" b="1"/>
            </a:pPr>
            <a:r>
              <a:t>3. 데이터베이스 최적화</a:t>
            </a:r>
          </a:p>
          <a:p>
            <a:pPr lvl="1">
              <a:spcBef>
                <a:spcPts val="600"/>
              </a:spcBef>
              <a:defRPr sz="1600"/>
            </a:pPr>
            <a:r>
              <a:t>sqlite3 IT_RNVR.db "VACUUM;"</a:t>
            </a:r>
          </a:p>
          <a:p>
            <a:pPr>
              <a:spcBef>
                <a:spcPts val="600"/>
              </a:spcBef>
              <a:defRPr sz="1800" b="1"/>
            </a:pPr>
            <a:r>
              <a:t>4. 로그 파일 정리</a:t>
            </a:r>
          </a:p>
          <a:p>
            <a:pPr lvl="1">
              <a:spcBef>
                <a:spcPts val="600"/>
              </a:spcBef>
              <a:defRPr sz="1600"/>
            </a:pPr>
            <a:r>
              <a:t>find _logs -name "*.log" -mtime +30 -delete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문제 해결 - 라즈베리파이에서 BadWindow 오류가 발생해요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원인: X Window 시스템 호환성 문제</a:t>
            </a:r>
          </a:p>
          <a:p>
            <a:pPr>
              <a:spcBef>
                <a:spcPts val="600"/>
              </a:spcBef>
              <a:defRPr sz="1800" b="1"/>
            </a:pPr>
            <a:r>
              <a:t>해결: 프로그램이 자동으로 감지하여 헤드리스 모드로 전환</a:t>
            </a:r>
          </a:p>
          <a:p>
            <a:pPr>
              <a:spcBef>
                <a:spcPts val="600"/>
              </a:spcBef>
              <a:defRPr sz="1800"/>
            </a:pPr>
            <a:r>
              <a:t>녹화 기능은 정상 작동하며, 웹 브라우저를 통한 원격 모니터링 가능 (별도 설정 필요)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문제 해결 - 설정이 저장되지 않아요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1. 데이터베이스 파일 권한 확인</a:t>
            </a:r>
          </a:p>
          <a:p>
            <a:pPr lvl="1">
              <a:spcBef>
                <a:spcPts val="600"/>
              </a:spcBef>
              <a:defRPr sz="1600"/>
            </a:pPr>
            <a:r>
              <a:t>ls -l IT_RNVR.db</a:t>
            </a:r>
          </a:p>
          <a:p>
            <a:pPr>
              <a:spcBef>
                <a:spcPts val="600"/>
              </a:spcBef>
              <a:defRPr sz="1800" b="1"/>
            </a:pPr>
            <a:r>
              <a:t>2. 데이터베이스 무결성 확인</a:t>
            </a:r>
          </a:p>
          <a:p>
            <a:pPr lvl="1">
              <a:spcBef>
                <a:spcPts val="600"/>
              </a:spcBef>
              <a:defRPr sz="1600"/>
            </a:pPr>
            <a:r>
              <a:t>sqlite3 IT_RNVR.db "PRAGMA integrity_check;"</a:t>
            </a:r>
          </a:p>
          <a:p>
            <a:pPr>
              <a:spcBef>
                <a:spcPts val="600"/>
              </a:spcBef>
              <a:defRPr sz="1800" b="1"/>
            </a:pPr>
            <a:r>
              <a:t>3. 백업에서 복원</a:t>
            </a:r>
          </a:p>
          <a:p>
            <a:pPr lvl="1">
              <a:spcBef>
                <a:spcPts val="600"/>
              </a:spcBef>
              <a:defRPr sz="1600"/>
            </a:pPr>
            <a:r>
              <a:t>cp IT_RNVR.db.backup IT_RNVR.db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문제 해결 - 프로그램이 시작되지 않아요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1. Python 버전 확인</a:t>
            </a:r>
          </a:p>
          <a:p>
            <a:pPr lvl="1">
              <a:spcBef>
                <a:spcPts val="600"/>
              </a:spcBef>
              <a:defRPr sz="1600"/>
            </a:pPr>
            <a:r>
              <a:t>python --version</a:t>
            </a:r>
          </a:p>
          <a:p>
            <a:pPr>
              <a:spcBef>
                <a:spcPts val="600"/>
              </a:spcBef>
              <a:defRPr sz="1800" b="1"/>
            </a:pPr>
            <a:r>
              <a:t>2. 의존성 확인</a:t>
            </a:r>
          </a:p>
          <a:p>
            <a:pPr lvl="1">
              <a:spcBef>
                <a:spcPts val="600"/>
              </a:spcBef>
              <a:defRPr sz="1600"/>
            </a:pPr>
            <a:r>
              <a:t>pip list | grep -E "PyQt5|gi"</a:t>
            </a:r>
          </a:p>
          <a:p>
            <a:pPr>
              <a:spcBef>
                <a:spcPts val="600"/>
              </a:spcBef>
              <a:defRPr sz="1800" b="1"/>
            </a:pPr>
            <a:r>
              <a:t>3. GStreamer 설치 확인</a:t>
            </a:r>
          </a:p>
          <a:p>
            <a:pPr lvl="1">
              <a:spcBef>
                <a:spcPts val="600"/>
              </a:spcBef>
              <a:defRPr sz="1600"/>
            </a:pPr>
            <a:r>
              <a:t>gst-launch-1.0 --version</a:t>
            </a:r>
          </a:p>
          <a:p>
            <a:pPr>
              <a:spcBef>
                <a:spcPts val="600"/>
              </a:spcBef>
              <a:defRPr sz="1800" b="1"/>
            </a:pPr>
            <a:r>
              <a:t>4. 로그 확인</a:t>
            </a:r>
          </a:p>
          <a:p>
            <a:pPr lvl="1">
              <a:spcBef>
                <a:spcPts val="600"/>
              </a:spcBef>
              <a:defRPr sz="1600"/>
            </a:pPr>
            <a:r>
              <a:t>python main.py --debug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추가 지원 - 로그 수집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/>
            </a:pPr>
            <a:r>
              <a:t>문제 발생 시 다음 정보를 수집하여 개발자에게 전달:</a:t>
            </a:r>
          </a:p>
          <a:p>
            <a:pPr>
              <a:spcBef>
                <a:spcPts val="600"/>
              </a:spcBef>
              <a:defRPr sz="1800"/>
            </a:pPr>
            <a:r>
              <a:t>**디버그 로그**:</a:t>
            </a:r>
          </a:p>
          <a:p>
            <a:pPr>
              <a:spcBef>
                <a:spcPts val="600"/>
              </a:spcBef>
              <a:defRPr sz="1800"/>
            </a:pPr>
            <a:r>
              <a:t>python main.py --debug &gt; debug_output.txt 2&gt;&amp;1</a:t>
            </a:r>
          </a:p>
          <a:p>
            <a:pPr>
              <a:spcBef>
                <a:spcPts val="600"/>
              </a:spcBef>
              <a:defRPr sz="1800"/>
            </a:pPr>
            <a:r>
              <a:t>**시스템 정보**:</a:t>
            </a:r>
          </a:p>
          <a:p>
            <a:pPr>
              <a:spcBef>
                <a:spcPts val="600"/>
              </a:spcBef>
              <a:defRPr sz="1800"/>
            </a:pPr>
            <a:r>
              <a:t># Linux/Raspberry Pi</a:t>
            </a:r>
          </a:p>
          <a:p>
            <a:pPr>
              <a:spcBef>
                <a:spcPts val="600"/>
              </a:spcBef>
              <a:defRPr sz="1800"/>
            </a:pPr>
            <a:r>
              <a:t>cat /proc/cpuinfo | grep Model</a:t>
            </a:r>
          </a:p>
          <a:p>
            <a:pPr>
              <a:spcBef>
                <a:spcPts val="600"/>
              </a:spcBef>
              <a:defRPr sz="1800"/>
            </a:pPr>
            <a:r>
              <a:t>python --version</a:t>
            </a:r>
          </a:p>
          <a:p>
            <a:pPr>
              <a:spcBef>
                <a:spcPts val="600"/>
              </a:spcBef>
              <a:defRPr sz="1800"/>
            </a:pPr>
            <a:r>
              <a:t>gst-launch-1.0 --version</a:t>
            </a:r>
          </a:p>
          <a:p>
            <a:pPr>
              <a:spcBef>
                <a:spcPts val="600"/>
              </a:spcBef>
              <a:defRPr sz="1800"/>
            </a:pPr>
            <a:r>
              <a:t>python --version</a:t>
            </a:r>
          </a:p>
          <a:p>
            <a:pPr>
              <a:spcBef>
                <a:spcPts val="600"/>
              </a:spcBef>
              <a:defRPr sz="1800"/>
            </a:pPr>
            <a:r>
              <a:t>**설정 파일**: `IT_RNVR.db` (개인정보 제거 후)</a:t>
            </a:r>
          </a:p>
          <a:p>
            <a:pPr>
              <a:spcBef>
                <a:spcPts val="600"/>
              </a:spcBef>
              <a:defRPr sz="1800"/>
            </a:pPr>
            <a:r>
              <a:t>**에러 스크린샷**: 오류 메시지 화면 캡처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추가 지원 - 개발자 문의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GitHub Issues: [프로젝트 저장소 URL]</a:t>
            </a:r>
          </a:p>
          <a:p>
            <a:pPr>
              <a:spcBef>
                <a:spcPts val="600"/>
              </a:spcBef>
              <a:defRPr sz="1800" b="1"/>
            </a:pPr>
            <a:r>
              <a:t>이메일: [담당자 이메일]</a:t>
            </a:r>
          </a:p>
          <a:p>
            <a:pPr>
              <a:spcBef>
                <a:spcPts val="600"/>
              </a:spcBef>
              <a:defRPr sz="1800" b="1"/>
            </a:pPr>
            <a:r>
              <a:t>문서: `./_doc/` 폴더의 기술 문서 참조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추가 지원 - 추가 문서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개발자 가이드: `CLAUDE.md`</a:t>
            </a:r>
          </a:p>
          <a:p>
            <a:pPr>
              <a:spcBef>
                <a:spcPts val="600"/>
              </a:spcBef>
              <a:defRPr sz="1800" b="1"/>
            </a:pPr>
            <a:r>
              <a:t>기술 문서: `_doc/` 폴더</a:t>
            </a:r>
          </a:p>
          <a:p>
            <a:pPr>
              <a:spcBef>
                <a:spcPts val="600"/>
              </a:spcBef>
              <a:defRPr sz="1800" b="1"/>
            </a:pPr>
            <a:r>
              <a:t>테스트 스크립트: `_tests/` 폴더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부록 - 용어 설명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NVR (Network Video Recorder): 네트워크 기반 비디오 녹화 시스템</a:t>
            </a:r>
          </a:p>
          <a:p>
            <a:pPr>
              <a:spcBef>
                <a:spcPts val="600"/>
              </a:spcBef>
              <a:defRPr sz="1800" b="1"/>
            </a:pPr>
            <a:r>
              <a:t>RTSP (Real Time Streaming Protocol): 실시간 스트리밍 프로토콜</a:t>
            </a:r>
          </a:p>
          <a:p>
            <a:pPr>
              <a:spcBef>
                <a:spcPts val="600"/>
              </a:spcBef>
              <a:defRPr sz="1800" b="1"/>
            </a:pPr>
            <a:r>
              <a:t>PTZ (Pan-Tilt-Zoom): 카메라의 방향(팬/틸트)과 줌을 제어하는 기능</a:t>
            </a:r>
          </a:p>
          <a:p>
            <a:pPr>
              <a:spcBef>
                <a:spcPts val="600"/>
              </a:spcBef>
              <a:defRPr sz="1800" b="1"/>
            </a:pPr>
            <a:r>
              <a:t>GStreamer: 멀티미디어 프레임워크 (비디오 처리 엔진)</a:t>
            </a:r>
          </a:p>
          <a:p>
            <a:pPr>
              <a:spcBef>
                <a:spcPts val="600"/>
              </a:spcBef>
              <a:defRPr sz="1800" b="1"/>
            </a:pPr>
            <a:r>
              <a:t>Pipeline: GStreamer의 비디오 처리 흐름</a:t>
            </a:r>
          </a:p>
          <a:p>
            <a:pPr>
              <a:spcBef>
                <a:spcPts val="600"/>
              </a:spcBef>
              <a:defRPr sz="1800" b="1"/>
            </a:pPr>
            <a:r>
              <a:t>Codec: 비디오/오디오 압축 방식 (H.264, H.265 등)</a:t>
            </a:r>
          </a:p>
          <a:p>
            <a:pPr>
              <a:spcBef>
                <a:spcPts val="600"/>
              </a:spcBef>
              <a:defRPr sz="1800" b="1"/>
            </a:pPr>
            <a:r>
              <a:t>Bitrate: 초당 전송되는 데이터 양 (비트레이트가 높을수록 화질 좋음)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부록 - 권장 카메라 사양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Bef>
                <a:spcPts val="600"/>
              </a:spcBef>
              <a:defRPr sz="1800" b="1"/>
            </a:pPr>
            <a:r>
              <a:t>프로토콜: RTSP 지원</a:t>
            </a:r>
          </a:p>
          <a:p>
            <a:pPr>
              <a:spcBef>
                <a:spcPts val="600"/>
              </a:spcBef>
              <a:defRPr sz="1800" b="1"/>
            </a:pPr>
            <a:r>
              <a:t>코덱: H.264 (H.265 선택사항)</a:t>
            </a:r>
          </a:p>
          <a:p>
            <a:pPr>
              <a:spcBef>
                <a:spcPts val="600"/>
              </a:spcBef>
              <a:defRPr sz="1800" b="1"/>
            </a:pPr>
            <a:r>
              <a:t>해상도: 1080p (1920x1080) 권장</a:t>
            </a:r>
          </a:p>
          <a:p>
            <a:pPr>
              <a:spcBef>
                <a:spcPts val="600"/>
              </a:spcBef>
              <a:defRPr sz="1800" b="1"/>
            </a:pPr>
            <a:r>
              <a:t>프레임레이트: 15~30 FPS</a:t>
            </a:r>
          </a:p>
          <a:p>
            <a:pPr>
              <a:spcBef>
                <a:spcPts val="600"/>
              </a:spcBef>
              <a:defRPr sz="1800" b="1"/>
            </a:pPr>
            <a:r>
              <a:t>PTZ: ONVIF 또는 HIK 프로토콜 지원 (PTZ 기능 사용 시)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부록 - 네트워크 구성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spcBef>
                <a:spcPts val="600"/>
              </a:spcBef>
              <a:defRPr sz="1600"/>
            </a:pPr>
            <a:r>
              <a:t>[인터넷] ─── [라우터] ─┬─ [NVR 서버 (라즈베리파이)]</a:t>
            </a:r>
          </a:p>
          <a:p>
            <a:pPr lvl="1">
              <a:spcBef>
                <a:spcPts val="600"/>
              </a:spcBef>
              <a:defRPr sz="1600"/>
            </a:pPr>
            <a:r>
              <a:t>├─ [IP 카메라 1] 192.168.1.101</a:t>
            </a:r>
          </a:p>
          <a:p>
            <a:pPr lvl="1">
              <a:spcBef>
                <a:spcPts val="600"/>
              </a:spcBef>
              <a:defRPr sz="1600"/>
            </a:pPr>
            <a:r>
              <a:t>├─ [IP 카메라 2] 192.168.1.102</a:t>
            </a:r>
          </a:p>
          <a:p>
            <a:pPr lvl="1">
              <a:spcBef>
                <a:spcPts val="600"/>
              </a:spcBef>
              <a:defRPr sz="1600"/>
            </a:pPr>
            <a:r>
              <a:t>└─ [IP 카메라 3] 192.168.1.103</a:t>
            </a:r>
          </a:p>
          <a:p>
            <a:pPr>
              <a:spcBef>
                <a:spcPts val="600"/>
              </a:spcBef>
              <a:defRPr sz="1800" b="1"/>
            </a:pPr>
            <a:r>
              <a:t>권장: 유선 랜(기가비트 이더넷)</a:t>
            </a:r>
          </a:p>
          <a:p>
            <a:pPr>
              <a:spcBef>
                <a:spcPts val="600"/>
              </a:spcBef>
              <a:defRPr sz="1800" b="1"/>
            </a:pPr>
            <a:r>
              <a:t>대역폭 계산: 카메라당 약 2~8 Mbps (해상도/비트레이트에 따라)</a:t>
            </a:r>
          </a:p>
          <a:p>
            <a:pPr>
              <a:spcBef>
                <a:spcPts val="600"/>
              </a:spcBef>
              <a:defRPr sz="1800" b="1"/>
            </a:pPr>
            <a:r>
              <a:t>스위치: 관리형 스위치 권장 (QoS 설정 가능)</a:t>
            </a:r>
          </a:p>
          <a:p>
            <a:pPr>
              <a:spcBef>
                <a:spcPts val="600"/>
              </a:spcBef>
              <a:defRPr sz="1800" b="1"/>
            </a:pPr>
            <a:r>
              <a:t>최종 수정일: 2025-11-13</a:t>
            </a:r>
          </a:p>
          <a:p>
            <a:pPr>
              <a:spcBef>
                <a:spcPts val="600"/>
              </a:spcBef>
              <a:defRPr sz="1800" b="1"/>
            </a:pPr>
            <a:r>
              <a:t>작성자: NVR GStreamer Development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